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Work Sans"/>
      <p:regular r:id="rId17"/>
      <p:bold r:id="rId18"/>
      <p:italic r:id="rId19"/>
      <p:boldItalic r:id="rId20"/>
    </p:embeddedFont>
    <p:embeddedFont>
      <p:font typeface="Work Sans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atwsMCn9ALdheVf1oob2YgsvT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-boldItalic.fntdata"/><Relationship Id="rId22" Type="http://schemas.openxmlformats.org/officeDocument/2006/relationships/font" Target="fonts/WorkSansLight-bold.fntdata"/><Relationship Id="rId21" Type="http://schemas.openxmlformats.org/officeDocument/2006/relationships/font" Target="fonts/WorkSansLight-regular.fntdata"/><Relationship Id="rId24" Type="http://schemas.openxmlformats.org/officeDocument/2006/relationships/font" Target="fonts/WorkSansLight-boldItalic.fntdata"/><Relationship Id="rId23" Type="http://schemas.openxmlformats.org/officeDocument/2006/relationships/font" Target="fonts/WorkSansLigh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WorkSans-regular.fntdata"/><Relationship Id="rId16" Type="http://schemas.openxmlformats.org/officeDocument/2006/relationships/slide" Target="slides/slide12.xml"/><Relationship Id="rId19" Type="http://schemas.openxmlformats.org/officeDocument/2006/relationships/font" Target="fonts/WorkSans-italic.fntdata"/><Relationship Id="rId18" Type="http://schemas.openxmlformats.org/officeDocument/2006/relationships/font" Target="fonts/Work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de47925d8_2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8de47925d8_2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8de47925d8_2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f80012ee0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af80012ee0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af80012ee0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f7a928d36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af7a928d36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af7a928d36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f7a928d36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af7a928d36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b0176bdc4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8b0176bdc4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b0176bdc4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8b0176bdc4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b0176bdc4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8b0176bdc4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de47925d8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8de47925d8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8de47925d8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de47925d8_2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8de47925d8_2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8de47925d8_2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8" name="Google Shape;1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/>
        </p:nvSpPr>
        <p:spPr>
          <a:xfrm>
            <a:off x="995427" y="2551825"/>
            <a:ext cx="99321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CO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Plataforma Web de Comercio y Difusión para Ferroeléctricos PYP</a:t>
            </a:r>
            <a:endParaRPr b="1" i="0" sz="40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de47925d8_2_15"/>
          <p:cNvSpPr txBox="1"/>
          <p:nvPr>
            <p:ph type="title"/>
          </p:nvPr>
        </p:nvSpPr>
        <p:spPr>
          <a:xfrm>
            <a:off x="152400" y="2198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CO">
                <a:solidFill>
                  <a:schemeClr val="lt1"/>
                </a:solidFill>
              </a:rPr>
              <a:t>FICHA </a:t>
            </a:r>
            <a:r>
              <a:rPr b="1" lang="es-CO">
                <a:solidFill>
                  <a:schemeClr val="lt1"/>
                </a:solidFill>
              </a:rPr>
              <a:t>TÉCNICA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8" name="Google Shape;108;g38de47925d8_2_15"/>
          <p:cNvSpPr txBox="1"/>
          <p:nvPr/>
        </p:nvSpPr>
        <p:spPr>
          <a:xfrm>
            <a:off x="6037000" y="3388250"/>
            <a:ext cx="6006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O" sz="1600">
                <a:solidFill>
                  <a:schemeClr val="dk1"/>
                </a:solidFill>
              </a:rPr>
              <a:t>https://docs.google.com/document/d/1Xg04Ev5vHcdJDd6P3uCGrEc1lvTKQptQ/edit?usp=drive_link&amp;ouid=104246757720328260294&amp;rtpof=true&amp;sd=true</a:t>
            </a:r>
            <a:endParaRPr b="0" i="0" sz="21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09" name="Google Shape;109;g38de47925d8_2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3225"/>
            <a:ext cx="5462751" cy="48623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8de47925d8_2_15"/>
          <p:cNvSpPr txBox="1"/>
          <p:nvPr/>
        </p:nvSpPr>
        <p:spPr>
          <a:xfrm>
            <a:off x="5615150" y="29571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ENLACE:</a:t>
            </a:r>
            <a:endParaRPr b="1"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f80012ee0_0_2"/>
          <p:cNvSpPr txBox="1"/>
          <p:nvPr>
            <p:ph type="title"/>
          </p:nvPr>
        </p:nvSpPr>
        <p:spPr>
          <a:xfrm>
            <a:off x="321600" y="203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CO">
                <a:solidFill>
                  <a:schemeClr val="lt1"/>
                </a:solidFill>
              </a:rPr>
              <a:t>COSTOS SOFTWARE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7" name="Google Shape;117;g3af80012ee0_0_2"/>
          <p:cNvSpPr txBox="1"/>
          <p:nvPr/>
        </p:nvSpPr>
        <p:spPr>
          <a:xfrm>
            <a:off x="7378675" y="3388250"/>
            <a:ext cx="4664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O" sz="1600">
                <a:solidFill>
                  <a:schemeClr val="dk1"/>
                </a:solidFill>
              </a:rPr>
              <a:t>https://docs.google.com/document/d/10snrqDgXyk0vp9TtZCpwZC5sz3J5tPrD/edit?usp=drive_link&amp;ouid=104246757720328260294&amp;rtpof=true&amp;sd=true</a:t>
            </a:r>
            <a:endParaRPr b="0" i="0" sz="21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8" name="Google Shape;118;g3af80012ee0_0_2"/>
          <p:cNvSpPr txBox="1"/>
          <p:nvPr/>
        </p:nvSpPr>
        <p:spPr>
          <a:xfrm>
            <a:off x="6916850" y="29571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ENLACE:</a:t>
            </a:r>
            <a:endParaRPr b="1"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19" name="Google Shape;119;g3af80012ee0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50" y="1995175"/>
            <a:ext cx="7132774" cy="378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f7a928d36_0_48"/>
          <p:cNvSpPr txBox="1"/>
          <p:nvPr>
            <p:ph type="title"/>
          </p:nvPr>
        </p:nvSpPr>
        <p:spPr>
          <a:xfrm>
            <a:off x="321600" y="203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CO">
                <a:solidFill>
                  <a:schemeClr val="lt1"/>
                </a:solidFill>
              </a:rPr>
              <a:t>COSTOS HARDWARE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6" name="Google Shape;126;g3af7a928d36_0_48"/>
          <p:cNvSpPr txBox="1"/>
          <p:nvPr/>
        </p:nvSpPr>
        <p:spPr>
          <a:xfrm>
            <a:off x="7378675" y="3388250"/>
            <a:ext cx="4664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O" sz="1600">
                <a:solidFill>
                  <a:schemeClr val="dk1"/>
                </a:solidFill>
              </a:rPr>
              <a:t>https://docs.google.com/document/d/10snrqDgXyk0vp9TtZCpwZC5sz3J5tPrD/edit?usp=drive_link&amp;ouid=104246757720328260294&amp;rtpof=true&amp;sd=true</a:t>
            </a:r>
            <a:endParaRPr b="0" i="0" sz="21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27" name="Google Shape;127;g3af7a928d36_0_48"/>
          <p:cNvSpPr txBox="1"/>
          <p:nvPr/>
        </p:nvSpPr>
        <p:spPr>
          <a:xfrm>
            <a:off x="6916850" y="29571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ENLACE:</a:t>
            </a:r>
            <a:endParaRPr b="1"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28" name="Google Shape;128;g3af7a928d36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81800"/>
            <a:ext cx="6626575" cy="508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152411" y="15890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CO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DIAGRAMA DE CASOS DE USO</a:t>
            </a:r>
            <a:endParaRPr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7728200" y="3510800"/>
            <a:ext cx="4037700" cy="15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https://drive.google.com/file/d/1R2tAL9RqktQFAmykRMbtKF45HMwbNyoA/view?usp=drive_link</a:t>
            </a:r>
            <a:endParaRPr b="0" i="0" sz="16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8450"/>
            <a:ext cx="7385951" cy="54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 txBox="1"/>
          <p:nvPr/>
        </p:nvSpPr>
        <p:spPr>
          <a:xfrm>
            <a:off x="8247050" y="30797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ENLACE:</a:t>
            </a:r>
            <a:endParaRPr b="1"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f7a928d36_0_10"/>
          <p:cNvSpPr txBox="1"/>
          <p:nvPr>
            <p:ph type="title"/>
          </p:nvPr>
        </p:nvSpPr>
        <p:spPr>
          <a:xfrm>
            <a:off x="128311" y="12663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CO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CASOS DE USO EXTENDIDO</a:t>
            </a:r>
            <a:endParaRPr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2" name="Google Shape;142;g3af7a928d36_0_10"/>
          <p:cNvSpPr txBox="1"/>
          <p:nvPr/>
        </p:nvSpPr>
        <p:spPr>
          <a:xfrm>
            <a:off x="8516175" y="3182163"/>
            <a:ext cx="3504300" cy="18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https://drive.google.com/file/d/1R2tAL9RqktQFAmykRMbtKF45HMwbNyoA/view?usp=drive_link</a:t>
            </a:r>
            <a:endParaRPr b="0" i="0" sz="16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g3af7a928d36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00" y="1564456"/>
            <a:ext cx="3888935" cy="511701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af7a928d36_0_10"/>
          <p:cNvSpPr txBox="1"/>
          <p:nvPr/>
        </p:nvSpPr>
        <p:spPr>
          <a:xfrm>
            <a:off x="9020475" y="27819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/>
              <a:t>ENLACE:</a:t>
            </a:r>
            <a:endParaRPr b="1"/>
          </a:p>
        </p:txBody>
      </p:sp>
      <p:pic>
        <p:nvPicPr>
          <p:cNvPr id="145" name="Google Shape;145;g3af7a928d36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9757" y="1564450"/>
            <a:ext cx="4233893" cy="514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b0176bdc4_0_5"/>
          <p:cNvSpPr txBox="1"/>
          <p:nvPr>
            <p:ph type="title"/>
          </p:nvPr>
        </p:nvSpPr>
        <p:spPr>
          <a:xfrm>
            <a:off x="165636" y="1779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CO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MODELO ENTIDAD RELACIÓN</a:t>
            </a:r>
            <a:r>
              <a:rPr b="1" lang="es-CO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b="1"/>
          </a:p>
        </p:txBody>
      </p:sp>
      <p:sp>
        <p:nvSpPr>
          <p:cNvPr id="151" name="Google Shape;151;g38b0176bdc4_0_5"/>
          <p:cNvSpPr txBox="1"/>
          <p:nvPr/>
        </p:nvSpPr>
        <p:spPr>
          <a:xfrm>
            <a:off x="7270200" y="3806550"/>
            <a:ext cx="4628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500">
                <a:solidFill>
                  <a:schemeClr val="dk1"/>
                </a:solidFill>
              </a:rPr>
              <a:t>https://drive.google.com/file/d/1wl135sKEpE6eLqcimtUPO9LbCifFSh7V/view?usp=drive_link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b="0" i="0" lang="es-CO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g38b0176bdc4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25" y="1503675"/>
            <a:ext cx="6990574" cy="54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8b0176bdc4_0_5"/>
          <p:cNvSpPr txBox="1"/>
          <p:nvPr/>
        </p:nvSpPr>
        <p:spPr>
          <a:xfrm>
            <a:off x="7270200" y="3503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/>
              <a:t>ENLACE: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b0176bdc4_0_26"/>
          <p:cNvSpPr txBox="1"/>
          <p:nvPr>
            <p:ph type="title"/>
          </p:nvPr>
        </p:nvSpPr>
        <p:spPr>
          <a:xfrm>
            <a:off x="214086" y="19040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CO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MODELO RELACIONAL</a:t>
            </a:r>
            <a:endParaRPr b="1"/>
          </a:p>
        </p:txBody>
      </p:sp>
      <p:sp>
        <p:nvSpPr>
          <p:cNvPr id="159" name="Google Shape;159;g38b0176bdc4_0_26"/>
          <p:cNvSpPr txBox="1"/>
          <p:nvPr/>
        </p:nvSpPr>
        <p:spPr>
          <a:xfrm>
            <a:off x="601050" y="2010100"/>
            <a:ext cx="7665900" cy="14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g38b0176bdc4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175" y="1516100"/>
            <a:ext cx="7543149" cy="519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8b0176bdc4_0_26"/>
          <p:cNvSpPr txBox="1"/>
          <p:nvPr/>
        </p:nvSpPr>
        <p:spPr>
          <a:xfrm>
            <a:off x="8524050" y="361627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https://drive.google.com/file/d/1ndE-WOEMACjQK3IPZ67GDkBmFz3WO8bv/view?usp=drive_link</a:t>
            </a:r>
            <a:endParaRPr/>
          </a:p>
        </p:txBody>
      </p:sp>
      <p:sp>
        <p:nvSpPr>
          <p:cNvPr id="162" name="Google Shape;162;g38b0176bdc4_0_26"/>
          <p:cNvSpPr txBox="1"/>
          <p:nvPr/>
        </p:nvSpPr>
        <p:spPr>
          <a:xfrm>
            <a:off x="8524050" y="33166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/>
              <a:t>ENLACE: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b0176bdc4_0_19"/>
          <p:cNvSpPr txBox="1"/>
          <p:nvPr>
            <p:ph type="title"/>
          </p:nvPr>
        </p:nvSpPr>
        <p:spPr>
          <a:xfrm>
            <a:off x="21408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CO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DICCIONARIO DE DATOS</a:t>
            </a:r>
            <a:r>
              <a:rPr b="1" lang="es-CO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b="1"/>
          </a:p>
        </p:txBody>
      </p:sp>
      <p:sp>
        <p:nvSpPr>
          <p:cNvPr id="168" name="Google Shape;168;g38b0176bdc4_0_19"/>
          <p:cNvSpPr txBox="1"/>
          <p:nvPr/>
        </p:nvSpPr>
        <p:spPr>
          <a:xfrm>
            <a:off x="7801300" y="2865725"/>
            <a:ext cx="766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ENLACE: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69" name="Google Shape;169;g38b0176bdc4_0_19"/>
          <p:cNvSpPr txBox="1"/>
          <p:nvPr/>
        </p:nvSpPr>
        <p:spPr>
          <a:xfrm>
            <a:off x="7801300" y="329682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https://drive.google.com/file/d/1ESyLMZOKQTMlTgeCWAgZj_Ur77P9LegR/view?usp=drive_link</a:t>
            </a:r>
            <a:endParaRPr/>
          </a:p>
        </p:txBody>
      </p:sp>
      <p:pic>
        <p:nvPicPr>
          <p:cNvPr id="170" name="Google Shape;170;g38b0176bdc4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8581"/>
            <a:ext cx="7122338" cy="5117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de47925d8_2_0"/>
          <p:cNvSpPr txBox="1"/>
          <p:nvPr>
            <p:ph type="title"/>
          </p:nvPr>
        </p:nvSpPr>
        <p:spPr>
          <a:xfrm>
            <a:off x="257025" y="1498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CO">
                <a:solidFill>
                  <a:schemeClr val="lt1"/>
                </a:solidFill>
              </a:rPr>
              <a:t>DIAGRAMA DE CLASES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77" name="Google Shape;177;g38de47925d8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25" y="1475575"/>
            <a:ext cx="7530474" cy="538242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8de47925d8_2_0"/>
          <p:cNvSpPr txBox="1"/>
          <p:nvPr/>
        </p:nvSpPr>
        <p:spPr>
          <a:xfrm>
            <a:off x="8346475" y="3320050"/>
            <a:ext cx="766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ENLACE: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79" name="Google Shape;179;g38de47925d8_2_0"/>
          <p:cNvSpPr txBox="1"/>
          <p:nvPr/>
        </p:nvSpPr>
        <p:spPr>
          <a:xfrm>
            <a:off x="8346475" y="3751138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https://drive.google.com/file/d/1ndE-WOEMACjQK3IPZ67GDkBmFz3WO8bv/view?usp=drive_link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de47925d8_2_6"/>
          <p:cNvSpPr txBox="1"/>
          <p:nvPr>
            <p:ph type="title"/>
          </p:nvPr>
        </p:nvSpPr>
        <p:spPr>
          <a:xfrm>
            <a:off x="144625" y="1964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CO">
                <a:solidFill>
                  <a:schemeClr val="lt1"/>
                </a:solidFill>
              </a:rPr>
              <a:t>DIAGRAMA DE DESPLIEGUE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6" name="Google Shape;186;g38de47925d8_2_6"/>
          <p:cNvSpPr txBox="1"/>
          <p:nvPr/>
        </p:nvSpPr>
        <p:spPr>
          <a:xfrm>
            <a:off x="144625" y="5578050"/>
            <a:ext cx="766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ENLACE: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87" name="Google Shape;187;g38de47925d8_2_6"/>
          <p:cNvSpPr txBox="1"/>
          <p:nvPr/>
        </p:nvSpPr>
        <p:spPr>
          <a:xfrm>
            <a:off x="144625" y="5912300"/>
            <a:ext cx="601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https://drive.google.com/file/d/10_g0EbYtJsJ_tXZ22sx5azB0PfKkTOZl/view?usp=drive_link</a:t>
            </a:r>
            <a:endParaRPr/>
          </a:p>
        </p:txBody>
      </p:sp>
      <p:pic>
        <p:nvPicPr>
          <p:cNvPr id="188" name="Google Shape;188;g38de47925d8_2_6" title="Diagrama de despliegue Star um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74500"/>
            <a:ext cx="11887200" cy="3165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193" name="Google Shape;1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