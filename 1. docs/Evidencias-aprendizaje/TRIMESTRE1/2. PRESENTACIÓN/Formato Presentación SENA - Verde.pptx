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Work Sans Medium"/>
      <p:regular r:id="rId18"/>
      <p:bold r:id="rId19"/>
      <p:italic r:id="rId20"/>
      <p:boldItalic r:id="rId21"/>
    </p:embeddedFont>
    <p:embeddedFont>
      <p:font typeface="Work Sans"/>
      <p:regular r:id="rId22"/>
      <p:bold r:id="rId23"/>
      <p:italic r:id="rId24"/>
      <p:boldItalic r:id="rId25"/>
    </p:embeddedFont>
    <p:embeddedFont>
      <p:font typeface="Work Sans Light"/>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gaIZ8z8PeDtKRn5GK7W2eAyEBU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WorkSansMedium-italic.fntdata"/><Relationship Id="rId22" Type="http://schemas.openxmlformats.org/officeDocument/2006/relationships/font" Target="fonts/WorkSans-regular.fntdata"/><Relationship Id="rId21" Type="http://schemas.openxmlformats.org/officeDocument/2006/relationships/font" Target="fonts/WorkSansMedium-boldItalic.fntdata"/><Relationship Id="rId24" Type="http://schemas.openxmlformats.org/officeDocument/2006/relationships/font" Target="fonts/WorkSans-italic.fntdata"/><Relationship Id="rId23" Type="http://schemas.openxmlformats.org/officeDocument/2006/relationships/font" Target="fonts/WorkSans-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WorkSansLight-regular.fntdata"/><Relationship Id="rId25" Type="http://schemas.openxmlformats.org/officeDocument/2006/relationships/font" Target="fonts/WorkSans-boldItalic.fntdata"/><Relationship Id="rId28" Type="http://schemas.openxmlformats.org/officeDocument/2006/relationships/font" Target="fonts/WorkSansLight-italic.fntdata"/><Relationship Id="rId27" Type="http://schemas.openxmlformats.org/officeDocument/2006/relationships/font" Target="fonts/WorkSansLight-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WorkSansLight-boldItalic.fntdata"/><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WorkSansMedium-bold.fntdata"/><Relationship Id="rId18" Type="http://schemas.openxmlformats.org/officeDocument/2006/relationships/font" Target="fonts/WorkSans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CO"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O"/>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O"/>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8de47925d8_2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8de47925d8_2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g38de47925d8_2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O"/>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8b0176bdc4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g38b0176bdc4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8b0176bdc4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g38b0176bdc4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8b0176bdc4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8b0176bdc4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8b0176bdc4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g38b0176bdc4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8de47925d8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8de47925d8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g38de47925d8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O"/>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8de47925d8_2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8de47925d8_2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g38de47925d8_2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O"/>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8de47925d8_3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8de47925d8_3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g38de47925d8_3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O"/>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8de47925d8_1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8de47925d8_1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g38de47925d8_1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O"/>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1_Diapositiva de título">
    <p:spTree>
      <p:nvGrpSpPr>
        <p:cNvPr id="15" name="Shape 15"/>
        <p:cNvGrpSpPr/>
        <p:nvPr/>
      </p:nvGrpSpPr>
      <p:grpSpPr>
        <a:xfrm>
          <a:off x="0" y="0"/>
          <a:ext cx="0" cy="0"/>
          <a:chOff x="0" y="0"/>
          <a:chExt cx="0" cy="0"/>
        </a:xfrm>
      </p:grpSpPr>
      <p:pic>
        <p:nvPicPr>
          <p:cNvPr descr="Interfaz de usuario gráfica, Texto, Aplicación&#10;&#10;Descripción generada automáticamente" id="16" name="Google Shape;16;p9"/>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Encabezado de sección">
  <p:cSld name="2_Encabezado de sección">
    <p:spTree>
      <p:nvGrpSpPr>
        <p:cNvPr id="17" name="Shape 17"/>
        <p:cNvGrpSpPr/>
        <p:nvPr/>
      </p:nvGrpSpPr>
      <p:grpSpPr>
        <a:xfrm>
          <a:off x="0" y="0"/>
          <a:ext cx="0" cy="0"/>
          <a:chOff x="0" y="0"/>
          <a:chExt cx="0" cy="0"/>
        </a:xfrm>
      </p:grpSpPr>
      <p:pic>
        <p:nvPicPr>
          <p:cNvPr descr="Patrón de fondo&#10;&#10;Descripción generada automáticamente" id="18" name="Google Shape;18;p10"/>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19" name="Google Shape;19;p10"/>
          <p:cNvPicPr preferRelativeResize="0"/>
          <p:nvPr/>
        </p:nvPicPr>
        <p:blipFill rotWithShape="1">
          <a:blip r:embed="rId3">
            <a:alphaModFix/>
          </a:blip>
          <a:srcRect b="0" l="0" r="0" t="0"/>
          <a:stretch/>
        </p:blipFill>
        <p:spPr>
          <a:xfrm>
            <a:off x="11054859" y="303050"/>
            <a:ext cx="855785" cy="83398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Encabezado de sección">
  <p:cSld name="1_Encabezado de sección">
    <p:spTree>
      <p:nvGrpSpPr>
        <p:cNvPr id="25" name="Shape 25"/>
        <p:cNvGrpSpPr/>
        <p:nvPr/>
      </p:nvGrpSpPr>
      <p:grpSpPr>
        <a:xfrm>
          <a:off x="0" y="0"/>
          <a:ext cx="0" cy="0"/>
          <a:chOff x="0" y="0"/>
          <a:chExt cx="0" cy="0"/>
        </a:xfrm>
      </p:grpSpPr>
      <p:pic>
        <p:nvPicPr>
          <p:cNvPr id="26" name="Google Shape;26;p12"/>
          <p:cNvPicPr preferRelativeResize="0"/>
          <p:nvPr/>
        </p:nvPicPr>
        <p:blipFill rotWithShape="1">
          <a:blip r:embed="rId2">
            <a:alphaModFix/>
          </a:blip>
          <a:srcRect b="0" l="0" r="0" t="0"/>
          <a:stretch/>
        </p:blipFill>
        <p:spPr>
          <a:xfrm>
            <a:off x="11027833" y="317431"/>
            <a:ext cx="811391" cy="79058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7" name="Shape 27"/>
        <p:cNvGrpSpPr/>
        <p:nvPr/>
      </p:nvGrpSpPr>
      <p:grpSpPr>
        <a:xfrm>
          <a:off x="0" y="0"/>
          <a:ext cx="0" cy="0"/>
          <a:chOff x="0" y="0"/>
          <a:chExt cx="0" cy="0"/>
        </a:xfrm>
      </p:grpSpPr>
      <p:sp>
        <p:nvSpPr>
          <p:cNvPr id="28" name="Google Shape;2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31" name="Shape 31"/>
        <p:cNvGrpSpPr/>
        <p:nvPr/>
      </p:nvGrpSpPr>
      <p:grpSpPr>
        <a:xfrm>
          <a:off x="0" y="0"/>
          <a:ext cx="0" cy="0"/>
          <a:chOff x="0" y="0"/>
          <a:chExt cx="0" cy="0"/>
        </a:xfrm>
      </p:grpSpPr>
      <p:sp>
        <p:nvSpPr>
          <p:cNvPr id="32" name="Google Shape;32;p1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4" name="Google Shape;3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7" name="Shape 37"/>
        <p:cNvGrpSpPr/>
        <p:nvPr/>
      </p:nvGrpSpPr>
      <p:grpSpPr>
        <a:xfrm>
          <a:off x="0" y="0"/>
          <a:ext cx="0" cy="0"/>
          <a:chOff x="0" y="0"/>
          <a:chExt cx="0" cy="0"/>
        </a:xfrm>
      </p:grpSpPr>
      <p:sp>
        <p:nvSpPr>
          <p:cNvPr id="38" name="Google Shape;3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43" name="Shape 43"/>
        <p:cNvGrpSpPr/>
        <p:nvPr/>
      </p:nvGrpSpPr>
      <p:grpSpPr>
        <a:xfrm>
          <a:off x="0" y="0"/>
          <a:ext cx="0" cy="0"/>
          <a:chOff x="0" y="0"/>
          <a:chExt cx="0" cy="0"/>
        </a:xfrm>
      </p:grpSpPr>
      <p:sp>
        <p:nvSpPr>
          <p:cNvPr id="44" name="Google Shape;44;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6" name="Google Shape;4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9" name="Shape 49"/>
        <p:cNvGrpSpPr/>
        <p:nvPr/>
      </p:nvGrpSpPr>
      <p:grpSpPr>
        <a:xfrm>
          <a:off x="0" y="0"/>
          <a:ext cx="0" cy="0"/>
          <a:chOff x="0" y="0"/>
          <a:chExt cx="0" cy="0"/>
        </a:xfrm>
      </p:grpSpPr>
      <p:sp>
        <p:nvSpPr>
          <p:cNvPr id="50" name="Google Shape;5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6" name="Shape 56"/>
        <p:cNvGrpSpPr/>
        <p:nvPr/>
      </p:nvGrpSpPr>
      <p:grpSpPr>
        <a:xfrm>
          <a:off x="0" y="0"/>
          <a:ext cx="0" cy="0"/>
          <a:chOff x="0" y="0"/>
          <a:chExt cx="0" cy="0"/>
        </a:xfrm>
      </p:grpSpPr>
      <p:sp>
        <p:nvSpPr>
          <p:cNvPr id="57" name="Google Shape;57;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1" name="Google Shape;61;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5" name="Shape 65"/>
        <p:cNvGrpSpPr/>
        <p:nvPr/>
      </p:nvGrpSpPr>
      <p:grpSpPr>
        <a:xfrm>
          <a:off x="0" y="0"/>
          <a:ext cx="0" cy="0"/>
          <a:chOff x="0" y="0"/>
          <a:chExt cx="0" cy="0"/>
        </a:xfrm>
      </p:grpSpPr>
      <p:sp>
        <p:nvSpPr>
          <p:cNvPr id="66" name="Google Shape;6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70" name="Shape 70"/>
        <p:cNvGrpSpPr/>
        <p:nvPr/>
      </p:nvGrpSpPr>
      <p:grpSpPr>
        <a:xfrm>
          <a:off x="0" y="0"/>
          <a:ext cx="0" cy="0"/>
          <a:chOff x="0" y="0"/>
          <a:chExt cx="0" cy="0"/>
        </a:xfrm>
      </p:grpSpPr>
      <p:sp>
        <p:nvSpPr>
          <p:cNvPr id="71" name="Google Shape;71;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3" name="Google Shape;73;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7" name="Shape 77"/>
        <p:cNvGrpSpPr/>
        <p:nvPr/>
      </p:nvGrpSpPr>
      <p:grpSpPr>
        <a:xfrm>
          <a:off x="0" y="0"/>
          <a:ext cx="0" cy="0"/>
          <a:chOff x="0" y="0"/>
          <a:chExt cx="0" cy="0"/>
        </a:xfrm>
      </p:grpSpPr>
      <p:sp>
        <p:nvSpPr>
          <p:cNvPr id="78" name="Google Shape;78;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p:nvPr>
            <p:ph idx="2" type="pic"/>
          </p:nvPr>
        </p:nvSpPr>
        <p:spPr>
          <a:xfrm>
            <a:off x="5183188" y="987425"/>
            <a:ext cx="6172200" cy="4873625"/>
          </a:xfrm>
          <a:prstGeom prst="rect">
            <a:avLst/>
          </a:prstGeom>
          <a:noFill/>
          <a:ln>
            <a:noFill/>
          </a:ln>
        </p:spPr>
      </p:sp>
      <p:sp>
        <p:nvSpPr>
          <p:cNvPr id="80" name="Google Shape;80;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 name="Google Shape;8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4" name="Shape 84"/>
        <p:cNvGrpSpPr/>
        <p:nvPr/>
      </p:nvGrpSpPr>
      <p:grpSpPr>
        <a:xfrm>
          <a:off x="0" y="0"/>
          <a:ext cx="0" cy="0"/>
          <a:chOff x="0" y="0"/>
          <a:chExt cx="0" cy="0"/>
        </a:xfrm>
      </p:grpSpPr>
      <p:sp>
        <p:nvSpPr>
          <p:cNvPr id="85" name="Google Shape;85;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90" name="Shape 90"/>
        <p:cNvGrpSpPr/>
        <p:nvPr/>
      </p:nvGrpSpPr>
      <p:grpSpPr>
        <a:xfrm>
          <a:off x="0" y="0"/>
          <a:ext cx="0" cy="0"/>
          <a:chOff x="0" y="0"/>
          <a:chExt cx="0" cy="0"/>
        </a:xfrm>
      </p:grpSpPr>
      <p:sp>
        <p:nvSpPr>
          <p:cNvPr id="91" name="Google Shape;91;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5.png"/><Relationship Id="rId5" Type="http://schemas.openxmlformats.org/officeDocument/2006/relationships/image" Target="../media/image22.png"/><Relationship Id="rId6"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hyperlink" Target="https://www.canva.com/design/DAG16TFEdgM/1TnduVWxZKphuEnut-WSqQ/edit?utm_content=DAG16TFEdgM&amp;utm_campaign=designshare&amp;utm_medium=link2&amp;utm_source=sharebutto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txBox="1"/>
          <p:nvPr/>
        </p:nvSpPr>
        <p:spPr>
          <a:xfrm>
            <a:off x="995427" y="2551825"/>
            <a:ext cx="9932100" cy="25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i="0" lang="es-CO" sz="5400" u="none" cap="none" strike="noStrike">
                <a:solidFill>
                  <a:srgbClr val="3F3F3F"/>
                </a:solidFill>
                <a:latin typeface="Work Sans"/>
                <a:ea typeface="Work Sans"/>
                <a:cs typeface="Work Sans"/>
                <a:sym typeface="Work Sans"/>
              </a:rPr>
              <a:t>Plataforma Web de Comercio y Difusión para Ferroeléctricos PYP</a:t>
            </a:r>
            <a:endParaRPr b="1" i="0" sz="4000" u="none" cap="none" strike="noStrike">
              <a:solidFill>
                <a:srgbClr val="3F3F3F"/>
              </a:solidFill>
              <a:latin typeface="Work Sans"/>
              <a:ea typeface="Work Sans"/>
              <a:cs typeface="Work Sans"/>
              <a:sym typeface="Work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txBox="1"/>
          <p:nvPr/>
        </p:nvSpPr>
        <p:spPr>
          <a:xfrm>
            <a:off x="531102" y="2061425"/>
            <a:ext cx="101304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0" i="0" lang="es-CO" sz="7200" u="none" cap="none" strike="noStrike">
                <a:solidFill>
                  <a:schemeClr val="dk1"/>
                </a:solidFill>
                <a:latin typeface="Work Sans Light"/>
                <a:ea typeface="Work Sans Light"/>
                <a:cs typeface="Work Sans Light"/>
                <a:sym typeface="Work Sans Light"/>
              </a:rPr>
              <a:t>Ferroeléctricos PYP</a:t>
            </a:r>
            <a:endParaRPr b="0" i="0" sz="1400" u="none" cap="none" strike="noStrike">
              <a:solidFill>
                <a:srgbClr val="000000"/>
              </a:solidFill>
              <a:latin typeface="Arial"/>
              <a:ea typeface="Arial"/>
              <a:cs typeface="Arial"/>
              <a:sym typeface="Arial"/>
            </a:endParaRPr>
          </a:p>
        </p:txBody>
      </p:sp>
      <p:cxnSp>
        <p:nvCxnSpPr>
          <p:cNvPr id="108" name="Google Shape;108;p2"/>
          <p:cNvCxnSpPr/>
          <p:nvPr/>
        </p:nvCxnSpPr>
        <p:spPr>
          <a:xfrm>
            <a:off x="5227899" y="3321934"/>
            <a:ext cx="1736203" cy="0"/>
          </a:xfrm>
          <a:prstGeom prst="straightConnector1">
            <a:avLst/>
          </a:prstGeom>
          <a:noFill/>
          <a:ln cap="flat" cmpd="sng" w="9525">
            <a:solidFill>
              <a:srgbClr val="38AA00"/>
            </a:solidFill>
            <a:prstDash val="solid"/>
            <a:miter lim="800000"/>
            <a:headEnd len="sm" w="sm" type="none"/>
            <a:tailEnd len="sm" w="sm" type="none"/>
          </a:ln>
        </p:spPr>
      </p:cxnSp>
      <p:sp>
        <p:nvSpPr>
          <p:cNvPr id="109" name="Google Shape;109;p2"/>
          <p:cNvSpPr txBox="1"/>
          <p:nvPr/>
        </p:nvSpPr>
        <p:spPr>
          <a:xfrm>
            <a:off x="4168830" y="3463725"/>
            <a:ext cx="5832300" cy="1077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s-CO" sz="1600" u="none" cap="none" strike="noStrike">
                <a:solidFill>
                  <a:schemeClr val="dk1"/>
                </a:solidFill>
                <a:latin typeface="Work Sans Light"/>
                <a:ea typeface="Work Sans Light"/>
                <a:cs typeface="Work Sans Light"/>
                <a:sym typeface="Work Sans Light"/>
              </a:rPr>
              <a:t>Plataforma web para generar más visibilidad e</a:t>
            </a:r>
            <a:r>
              <a:rPr b="0" i="0" lang="es-CO" sz="1600" u="none" cap="none" strike="noStrike">
                <a:solidFill>
                  <a:schemeClr val="dk1"/>
                </a:solidFill>
                <a:latin typeface="Work Sans"/>
                <a:ea typeface="Work Sans"/>
                <a:cs typeface="Work Sans"/>
                <a:sym typeface="Work Sans"/>
              </a:rPr>
              <a:t> </a:t>
            </a:r>
            <a:r>
              <a:rPr b="0" i="0" lang="es-CO" sz="1600" u="none" cap="none" strike="noStrike">
                <a:solidFill>
                  <a:schemeClr val="dk1"/>
                </a:solidFill>
                <a:latin typeface="Work Sans Light"/>
                <a:ea typeface="Work Sans Light"/>
                <a:cs typeface="Work Sans Light"/>
                <a:sym typeface="Work Sans Light"/>
              </a:rPr>
              <a:t>implementación de un entorno funcional que facilite la promoción y venta de productos en línea.</a:t>
            </a:r>
            <a:endParaRPr b="0" i="0" sz="1600" u="none" cap="none" strike="noStrike">
              <a:solidFill>
                <a:schemeClr val="dk1"/>
              </a:solidFill>
              <a:latin typeface="Work Sans Light"/>
              <a:ea typeface="Work Sans Light"/>
              <a:cs typeface="Work Sans Light"/>
              <a:sym typeface="Work Sans Light"/>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Work Sans Light"/>
              <a:ea typeface="Work Sans Light"/>
              <a:cs typeface="Work Sans Light"/>
              <a:sym typeface="Work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8de47925d8_2_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solidFill>
                  <a:schemeClr val="lt1"/>
                </a:solidFill>
              </a:rPr>
              <a:t>Objetivo general</a:t>
            </a:r>
            <a:endParaRPr>
              <a:solidFill>
                <a:schemeClr val="lt1"/>
              </a:solidFill>
            </a:endParaRPr>
          </a:p>
        </p:txBody>
      </p:sp>
      <p:sp>
        <p:nvSpPr>
          <p:cNvPr id="116" name="Google Shape;116;g38de47925d8_2_15"/>
          <p:cNvSpPr txBox="1"/>
          <p:nvPr/>
        </p:nvSpPr>
        <p:spPr>
          <a:xfrm>
            <a:off x="504800" y="2086550"/>
            <a:ext cx="7284900" cy="3454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200"/>
              </a:spcBef>
              <a:spcAft>
                <a:spcPts val="0"/>
              </a:spcAft>
              <a:buClr>
                <a:schemeClr val="dk1"/>
              </a:buClr>
              <a:buSzPts val="1100"/>
              <a:buFont typeface="Arial"/>
              <a:buNone/>
            </a:pPr>
            <a:br>
              <a:rPr b="0" i="0" lang="es-CO" sz="1600" u="none" cap="none" strike="noStrike">
                <a:solidFill>
                  <a:schemeClr val="dk1"/>
                </a:solidFill>
                <a:latin typeface="Arial"/>
                <a:ea typeface="Arial"/>
                <a:cs typeface="Arial"/>
                <a:sym typeface="Arial"/>
              </a:rPr>
            </a:br>
            <a:r>
              <a:rPr b="0" i="0" lang="es-CO" sz="2100" u="none" cap="none" strike="noStrike">
                <a:solidFill>
                  <a:schemeClr val="dk1"/>
                </a:solidFill>
                <a:latin typeface="Work Sans"/>
                <a:ea typeface="Work Sans"/>
                <a:cs typeface="Work Sans"/>
                <a:sym typeface="Work Sans"/>
              </a:rPr>
              <a:t>Desarrollar una plataforma web para FERROELÉCTRICOS PYP que permita la visualización de un catálogo digital de lámparas con sus características principales, la gestión de inventario para uso exclusivo del administrador y la implementación de un entorno funcional que facilite la promoción y venta de productos en línea.</a:t>
            </a:r>
            <a:endParaRPr b="0" i="0" sz="2100" u="none" cap="none" strike="noStrike">
              <a:solidFill>
                <a:schemeClr val="dk1"/>
              </a:solidFill>
              <a:latin typeface="Work Sans"/>
              <a:ea typeface="Work Sans"/>
              <a:cs typeface="Work Sans"/>
              <a:sym typeface="Work Sans"/>
            </a:endParaRPr>
          </a:p>
          <a:p>
            <a:pPr indent="0" lvl="0" marL="0" marR="0" rtl="0" algn="l">
              <a:lnSpc>
                <a:spcPct val="100000"/>
              </a:lnSpc>
              <a:spcBef>
                <a:spcPts val="1200"/>
              </a:spcBef>
              <a:spcAft>
                <a:spcPts val="0"/>
              </a:spcAft>
              <a:buClr>
                <a:srgbClr val="000000"/>
              </a:buClr>
              <a:buSzPts val="1600"/>
              <a:buFont typeface="Arial"/>
              <a:buNone/>
            </a:pPr>
            <a:r>
              <a:t/>
            </a:r>
            <a:endParaRPr b="0" i="0" sz="2100" u="none" cap="none" strike="noStrike">
              <a:solidFill>
                <a:schemeClr val="dk1"/>
              </a:solidFill>
              <a:latin typeface="Work Sans Light"/>
              <a:ea typeface="Work Sans Light"/>
              <a:cs typeface="Work Sans Light"/>
              <a:sym typeface="Work Sans Light"/>
            </a:endParaRPr>
          </a:p>
        </p:txBody>
      </p:sp>
      <p:pic>
        <p:nvPicPr>
          <p:cNvPr descr="Objetivo General :: PANADERIA PARAISO" id="117" name="Google Shape;117;g38de47925d8_2_15"/>
          <p:cNvPicPr preferRelativeResize="0"/>
          <p:nvPr/>
        </p:nvPicPr>
        <p:blipFill rotWithShape="1">
          <a:blip r:embed="rId3">
            <a:alphaModFix/>
          </a:blip>
          <a:srcRect b="0" l="0" r="0" t="0"/>
          <a:stretch/>
        </p:blipFill>
        <p:spPr>
          <a:xfrm>
            <a:off x="8209200" y="2390888"/>
            <a:ext cx="3724575" cy="2846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5"/>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CO">
                <a:solidFill>
                  <a:schemeClr val="lt1"/>
                </a:solidFill>
                <a:latin typeface="Work Sans Medium"/>
                <a:ea typeface="Work Sans Medium"/>
                <a:cs typeface="Work Sans Medium"/>
                <a:sym typeface="Work Sans Medium"/>
              </a:rPr>
              <a:t>Objetivos específicos </a:t>
            </a:r>
            <a:endParaRPr/>
          </a:p>
        </p:txBody>
      </p:sp>
      <p:sp>
        <p:nvSpPr>
          <p:cNvPr id="123" name="Google Shape;123;p5"/>
          <p:cNvSpPr txBox="1"/>
          <p:nvPr/>
        </p:nvSpPr>
        <p:spPr>
          <a:xfrm>
            <a:off x="601050" y="2010100"/>
            <a:ext cx="7104300" cy="47877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200"/>
              </a:spcBef>
              <a:spcAft>
                <a:spcPts val="0"/>
              </a:spcAft>
              <a:buClr>
                <a:schemeClr val="dk1"/>
              </a:buClr>
              <a:buSzPts val="1600"/>
              <a:buFont typeface="Work Sans"/>
              <a:buChar char="●"/>
            </a:pPr>
            <a:r>
              <a:rPr b="0" i="0" lang="es-CO" sz="1600" u="none" cap="none" strike="noStrike">
                <a:solidFill>
                  <a:schemeClr val="dk1"/>
                </a:solidFill>
                <a:latin typeface="Work Sans"/>
                <a:ea typeface="Work Sans"/>
                <a:cs typeface="Work Sans"/>
                <a:sym typeface="Work Sans"/>
              </a:rPr>
              <a:t>C</a:t>
            </a:r>
            <a:r>
              <a:rPr b="0" i="0" lang="es-CO" sz="1600" u="none" cap="none" strike="noStrike">
                <a:solidFill>
                  <a:schemeClr val="dk1"/>
                </a:solidFill>
                <a:latin typeface="Work Sans"/>
                <a:ea typeface="Work Sans"/>
                <a:cs typeface="Work Sans"/>
                <a:sym typeface="Work Sans"/>
              </a:rPr>
              <a:t>rear un catálogo digital que muestre las lámparas con imágenes, descripciones, precios y características técnicas.</a:t>
            </a:r>
            <a:endParaRPr b="0" i="0" sz="1600" u="none" cap="none" strike="noStrike">
              <a:solidFill>
                <a:schemeClr val="dk1"/>
              </a:solidFill>
              <a:latin typeface="Work Sans"/>
              <a:ea typeface="Work Sans"/>
              <a:cs typeface="Work Sans"/>
              <a:sym typeface="Work Sans"/>
            </a:endParaRPr>
          </a:p>
          <a:p>
            <a:pPr indent="0" lvl="0" marL="457200" marR="0" rtl="0" algn="l">
              <a:lnSpc>
                <a:spcPct val="115000"/>
              </a:lnSpc>
              <a:spcBef>
                <a:spcPts val="1200"/>
              </a:spcBef>
              <a:spcAft>
                <a:spcPts val="0"/>
              </a:spcAft>
              <a:buClr>
                <a:srgbClr val="000000"/>
              </a:buClr>
              <a:buSzPts val="1600"/>
              <a:buFont typeface="Arial"/>
              <a:buNone/>
            </a:pPr>
            <a:r>
              <a:t/>
            </a:r>
            <a:endParaRPr b="0" i="0" sz="1600" u="none" cap="none" strike="noStrike">
              <a:solidFill>
                <a:schemeClr val="dk1"/>
              </a:solidFill>
              <a:latin typeface="Work Sans"/>
              <a:ea typeface="Work Sans"/>
              <a:cs typeface="Work Sans"/>
              <a:sym typeface="Work Sans"/>
            </a:endParaRPr>
          </a:p>
          <a:p>
            <a:pPr indent="-330200" lvl="0" marL="457200" marR="0" rtl="0" algn="l">
              <a:lnSpc>
                <a:spcPct val="115000"/>
              </a:lnSpc>
              <a:spcBef>
                <a:spcPts val="1200"/>
              </a:spcBef>
              <a:spcAft>
                <a:spcPts val="0"/>
              </a:spcAft>
              <a:buClr>
                <a:schemeClr val="dk1"/>
              </a:buClr>
              <a:buSzPts val="1600"/>
              <a:buFont typeface="Work Sans"/>
              <a:buChar char="●"/>
            </a:pPr>
            <a:r>
              <a:rPr b="0" i="0" lang="es-CO" sz="1600" u="none" cap="none" strike="noStrike">
                <a:solidFill>
                  <a:schemeClr val="dk1"/>
                </a:solidFill>
                <a:latin typeface="Work Sans"/>
                <a:ea typeface="Work Sans"/>
                <a:cs typeface="Work Sans"/>
                <a:sym typeface="Work Sans"/>
              </a:rPr>
              <a:t>Implementar un módulo de administración que permita gestionar el inventario de manera privada y segura.</a:t>
            </a:r>
            <a:endParaRPr b="0" i="0" sz="1600" u="none" cap="none" strike="noStrike">
              <a:solidFill>
                <a:schemeClr val="dk1"/>
              </a:solidFill>
              <a:latin typeface="Work Sans"/>
              <a:ea typeface="Work Sans"/>
              <a:cs typeface="Work Sans"/>
              <a:sym typeface="Work Sans"/>
            </a:endParaRPr>
          </a:p>
          <a:p>
            <a:pPr indent="0" lvl="0" marL="457200" marR="0" rtl="0" algn="l">
              <a:lnSpc>
                <a:spcPct val="115000"/>
              </a:lnSpc>
              <a:spcBef>
                <a:spcPts val="1200"/>
              </a:spcBef>
              <a:spcAft>
                <a:spcPts val="0"/>
              </a:spcAft>
              <a:buClr>
                <a:srgbClr val="000000"/>
              </a:buClr>
              <a:buSzPts val="1600"/>
              <a:buFont typeface="Arial"/>
              <a:buNone/>
            </a:pPr>
            <a:r>
              <a:t/>
            </a:r>
            <a:endParaRPr b="0" i="0" sz="1600" u="none" cap="none" strike="noStrike">
              <a:solidFill>
                <a:schemeClr val="dk1"/>
              </a:solidFill>
              <a:latin typeface="Work Sans"/>
              <a:ea typeface="Work Sans"/>
              <a:cs typeface="Work Sans"/>
              <a:sym typeface="Work Sans"/>
            </a:endParaRPr>
          </a:p>
          <a:p>
            <a:pPr indent="-330200" lvl="0" marL="457200" marR="0" rtl="0" algn="l">
              <a:lnSpc>
                <a:spcPct val="115000"/>
              </a:lnSpc>
              <a:spcBef>
                <a:spcPts val="1200"/>
              </a:spcBef>
              <a:spcAft>
                <a:spcPts val="0"/>
              </a:spcAft>
              <a:buClr>
                <a:schemeClr val="dk1"/>
              </a:buClr>
              <a:buSzPts val="1600"/>
              <a:buFont typeface="Work Sans"/>
              <a:buChar char="●"/>
            </a:pPr>
            <a:r>
              <a:rPr b="0" i="0" lang="es-CO" sz="1600" u="none" cap="none" strike="noStrike">
                <a:solidFill>
                  <a:schemeClr val="dk1"/>
                </a:solidFill>
                <a:latin typeface="Work Sans"/>
                <a:ea typeface="Work Sans"/>
                <a:cs typeface="Work Sans"/>
                <a:sym typeface="Work Sans"/>
              </a:rPr>
              <a:t>Diseñar una interfaz clara, responsiva y fácil de usar para garantizar una buena experiencia de navegación.</a:t>
            </a:r>
            <a:endParaRPr b="0" i="0" sz="1600" u="none" cap="none" strike="noStrike">
              <a:solidFill>
                <a:schemeClr val="dk1"/>
              </a:solidFill>
              <a:latin typeface="Work Sans"/>
              <a:ea typeface="Work Sans"/>
              <a:cs typeface="Work Sans"/>
              <a:sym typeface="Work Sans"/>
            </a:endParaRPr>
          </a:p>
          <a:p>
            <a:pPr indent="0" lvl="0" marL="457200" marR="0" rtl="0" algn="l">
              <a:lnSpc>
                <a:spcPct val="115000"/>
              </a:lnSpc>
              <a:spcBef>
                <a:spcPts val="1200"/>
              </a:spcBef>
              <a:spcAft>
                <a:spcPts val="0"/>
              </a:spcAft>
              <a:buClr>
                <a:srgbClr val="000000"/>
              </a:buClr>
              <a:buSzPts val="1600"/>
              <a:buFont typeface="Arial"/>
              <a:buNone/>
            </a:pPr>
            <a:r>
              <a:t/>
            </a:r>
            <a:endParaRPr b="0" i="0" sz="1600" u="none" cap="none" strike="noStrike">
              <a:solidFill>
                <a:schemeClr val="dk1"/>
              </a:solidFill>
              <a:latin typeface="Work Sans"/>
              <a:ea typeface="Work Sans"/>
              <a:cs typeface="Work Sans"/>
              <a:sym typeface="Work Sans"/>
            </a:endParaRPr>
          </a:p>
          <a:p>
            <a:pPr indent="-330200" lvl="0" marL="457200" marR="0" rtl="0" algn="l">
              <a:lnSpc>
                <a:spcPct val="115000"/>
              </a:lnSpc>
              <a:spcBef>
                <a:spcPts val="1200"/>
              </a:spcBef>
              <a:spcAft>
                <a:spcPts val="0"/>
              </a:spcAft>
              <a:buClr>
                <a:schemeClr val="dk1"/>
              </a:buClr>
              <a:buSzPts val="1600"/>
              <a:buFont typeface="Work Sans"/>
              <a:buChar char="●"/>
            </a:pPr>
            <a:r>
              <a:rPr b="0" i="0" lang="es-CO" sz="1600" u="none" cap="none" strike="noStrike">
                <a:solidFill>
                  <a:schemeClr val="dk1"/>
                </a:solidFill>
                <a:latin typeface="Work Sans"/>
                <a:ea typeface="Work Sans"/>
                <a:cs typeface="Work Sans"/>
                <a:sym typeface="Work Sans"/>
              </a:rPr>
              <a:t>Incorporar funciones de búsqueda y filtrado para optimizar la visualización de productos.</a:t>
            </a:r>
            <a:endParaRPr b="0" i="0" sz="1600" u="none" cap="none" strike="noStrike">
              <a:solidFill>
                <a:schemeClr val="dk1"/>
              </a:solidFill>
              <a:latin typeface="Work Sans"/>
              <a:ea typeface="Work Sans"/>
              <a:cs typeface="Work Sans"/>
              <a:sym typeface="Work Sans"/>
            </a:endParaRPr>
          </a:p>
          <a:p>
            <a:pPr indent="0" lvl="0" marL="0" marR="0" rtl="0" algn="l">
              <a:lnSpc>
                <a:spcPct val="115000"/>
              </a:lnSpc>
              <a:spcBef>
                <a:spcPts val="1200"/>
              </a:spcBef>
              <a:spcAft>
                <a:spcPts val="1200"/>
              </a:spcAft>
              <a:buClr>
                <a:srgbClr val="000000"/>
              </a:buClr>
              <a:buSzPts val="1100"/>
              <a:buFont typeface="Arial"/>
              <a:buNone/>
            </a:pPr>
            <a:br>
              <a:rPr b="0" i="0" lang="es-CO" sz="1100" u="none" cap="none" strike="noStrike">
                <a:solidFill>
                  <a:schemeClr val="dk1"/>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pic>
        <p:nvPicPr>
          <p:cNvPr id="124" name="Google Shape;124;p5"/>
          <p:cNvPicPr preferRelativeResize="0"/>
          <p:nvPr/>
        </p:nvPicPr>
        <p:blipFill rotWithShape="1">
          <a:blip r:embed="rId3">
            <a:alphaModFix/>
          </a:blip>
          <a:srcRect b="0" l="0" r="0" t="0"/>
          <a:stretch/>
        </p:blipFill>
        <p:spPr>
          <a:xfrm>
            <a:off x="7838025" y="2150125"/>
            <a:ext cx="3702851" cy="37028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8b0176bdc4_0_5"/>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CO">
                <a:solidFill>
                  <a:schemeClr val="lt1"/>
                </a:solidFill>
                <a:latin typeface="Work Sans Medium"/>
                <a:ea typeface="Work Sans Medium"/>
                <a:cs typeface="Work Sans Medium"/>
                <a:sym typeface="Work Sans Medium"/>
              </a:rPr>
              <a:t>Justificación  </a:t>
            </a:r>
            <a:endParaRPr/>
          </a:p>
        </p:txBody>
      </p:sp>
      <p:sp>
        <p:nvSpPr>
          <p:cNvPr id="130" name="Google Shape;130;g38b0176bdc4_0_5"/>
          <p:cNvSpPr txBox="1"/>
          <p:nvPr/>
        </p:nvSpPr>
        <p:spPr>
          <a:xfrm>
            <a:off x="601050" y="2010100"/>
            <a:ext cx="7898700" cy="594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s-CO" sz="1500">
                <a:solidFill>
                  <a:schemeClr val="dk1"/>
                </a:solidFill>
              </a:rPr>
              <a:t>La digitalización de los negocios se ha convertido en un factor esencial para garantizar la competitividad en el mercado actual. </a:t>
            </a:r>
            <a:r>
              <a:rPr b="1" lang="es-CO" sz="1500">
                <a:solidFill>
                  <a:schemeClr val="dk1"/>
                </a:solidFill>
              </a:rPr>
              <a:t>FERROELÉCTRICOS PYP</a:t>
            </a:r>
            <a:r>
              <a:rPr lang="es-CO" sz="1500">
                <a:solidFill>
                  <a:schemeClr val="dk1"/>
                </a:solidFill>
              </a:rPr>
              <a:t>, al no contar con una plataforma web propia, limita su alcance comercial y depende principalmente de la atención presencial en su establecimiento físico, reduciendo así sus oportunidades de expansión y visibilidad en el entorno digital.</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CO" sz="1500">
                <a:solidFill>
                  <a:schemeClr val="dk1"/>
                </a:solidFill>
              </a:rPr>
              <a:t>El desarrollo de una plataforma web permitirá mostrar de manera organizada y accesible el catálogo de lámparas disponibles, detallando las características de cada producto, lo cual mejorará la experiencia de los clientes al momento de conocer la oferta de la tienda. Además, la implementación de un módulo de inventario exclusivo para el administrador facilitará la gestión interna de los productos, optimizando el control de existencias y la toma de decisiones.La digitalización de los negocios se ha convertido en un factor esencial para garantizar la competitividad en el mercado actual. </a:t>
            </a:r>
            <a:r>
              <a:rPr b="1" lang="es-CO" sz="1500">
                <a:solidFill>
                  <a:schemeClr val="dk1"/>
                </a:solidFill>
              </a:rPr>
              <a:t>FERROELÉCTRICOS PYP</a:t>
            </a:r>
            <a:r>
              <a:rPr lang="es-CO" sz="1500">
                <a:solidFill>
                  <a:schemeClr val="dk1"/>
                </a:solidFill>
              </a:rPr>
              <a:t>, al no contar con una plataforma web propia, limita su alcance comercial y depende principalmente de la atención presencial en su establecimiento físico, reduciendo así sus oportunidades de expansión y visibilidad en el entorno digital.</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500">
              <a:solidFill>
                <a:schemeClr val="dk1"/>
              </a:solidFill>
            </a:endParaRPr>
          </a:p>
          <a:p>
            <a:pPr indent="0" lvl="0" marL="457200" marR="0" rtl="0" algn="l">
              <a:lnSpc>
                <a:spcPct val="115000"/>
              </a:lnSpc>
              <a:spcBef>
                <a:spcPts val="1200"/>
              </a:spcBef>
              <a:spcAft>
                <a:spcPts val="0"/>
              </a:spcAft>
              <a:buClr>
                <a:srgbClr val="000000"/>
              </a:buClr>
              <a:buSzPts val="1600"/>
              <a:buFont typeface="Arial"/>
              <a:buNone/>
            </a:pPr>
            <a:r>
              <a:t/>
            </a:r>
            <a:endParaRPr b="0" i="0" sz="2000" u="none" cap="none" strike="noStrike">
              <a:solidFill>
                <a:schemeClr val="dk1"/>
              </a:solidFill>
              <a:latin typeface="Work Sans"/>
              <a:ea typeface="Work Sans"/>
              <a:cs typeface="Work Sans"/>
              <a:sym typeface="Work Sans"/>
            </a:endParaRPr>
          </a:p>
          <a:p>
            <a:pPr indent="0" lvl="0" marL="0" marR="0" rtl="0" algn="l">
              <a:lnSpc>
                <a:spcPct val="115000"/>
              </a:lnSpc>
              <a:spcBef>
                <a:spcPts val="1200"/>
              </a:spcBef>
              <a:spcAft>
                <a:spcPts val="1200"/>
              </a:spcAft>
              <a:buClr>
                <a:srgbClr val="000000"/>
              </a:buClr>
              <a:buSzPts val="1100"/>
              <a:buFont typeface="Arial"/>
              <a:buNone/>
            </a:pPr>
            <a:br>
              <a:rPr b="0" i="0" lang="es-CO" sz="1500" u="none" cap="none" strike="noStrike">
                <a:solidFill>
                  <a:schemeClr val="dk1"/>
                </a:solidFill>
                <a:latin typeface="Arial"/>
                <a:ea typeface="Arial"/>
                <a:cs typeface="Arial"/>
                <a:sym typeface="Arial"/>
              </a:rPr>
            </a:br>
            <a:endParaRPr b="0" i="0" sz="1800" u="none" cap="none" strike="noStrike">
              <a:solidFill>
                <a:srgbClr val="000000"/>
              </a:solidFill>
              <a:latin typeface="Arial"/>
              <a:ea typeface="Arial"/>
              <a:cs typeface="Arial"/>
              <a:sym typeface="Arial"/>
            </a:endParaRPr>
          </a:p>
        </p:txBody>
      </p:sp>
      <p:pic>
        <p:nvPicPr>
          <p:cNvPr id="131" name="Google Shape;131;g38b0176bdc4_0_5"/>
          <p:cNvPicPr preferRelativeResize="0"/>
          <p:nvPr/>
        </p:nvPicPr>
        <p:blipFill rotWithShape="1">
          <a:blip r:embed="rId3">
            <a:alphaModFix/>
          </a:blip>
          <a:srcRect b="0" l="0" r="0" t="0"/>
          <a:stretch/>
        </p:blipFill>
        <p:spPr>
          <a:xfrm>
            <a:off x="8526525" y="2600325"/>
            <a:ext cx="3665476" cy="36654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8b0176bdc4_0_12"/>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CO">
                <a:solidFill>
                  <a:schemeClr val="lt1"/>
                </a:solidFill>
                <a:latin typeface="Work Sans Medium"/>
                <a:ea typeface="Work Sans Medium"/>
                <a:cs typeface="Work Sans Medium"/>
                <a:sym typeface="Work Sans Medium"/>
              </a:rPr>
              <a:t>Planteamiento del problema  </a:t>
            </a:r>
            <a:endParaRPr/>
          </a:p>
        </p:txBody>
      </p:sp>
      <p:sp>
        <p:nvSpPr>
          <p:cNvPr id="137" name="Google Shape;137;g38b0176bdc4_0_12"/>
          <p:cNvSpPr txBox="1"/>
          <p:nvPr/>
        </p:nvSpPr>
        <p:spPr>
          <a:xfrm>
            <a:off x="601050" y="2010100"/>
            <a:ext cx="7665900" cy="53049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1200"/>
              </a:spcBef>
              <a:spcAft>
                <a:spcPts val="0"/>
              </a:spcAft>
              <a:buClr>
                <a:srgbClr val="000000"/>
              </a:buClr>
              <a:buSzPts val="1600"/>
              <a:buFont typeface="Arial"/>
              <a:buNone/>
            </a:pPr>
            <a:r>
              <a:rPr b="0" i="0" lang="es-CO" sz="1600" u="none" cap="none" strike="noStrike">
                <a:solidFill>
                  <a:schemeClr val="dk1"/>
                </a:solidFill>
                <a:latin typeface="Work Sans"/>
                <a:ea typeface="Work Sans"/>
                <a:cs typeface="Work Sans"/>
                <a:sym typeface="Work Sans"/>
              </a:rPr>
              <a:t>La digitalización de los negocios se ha convertido en un factor esencial para garantizar la competitividad en el mercado actual. FERROELÉCTRICOS PYP, al no contar con una plataforma web propia, limita su alcance comercial y depende principalmente de la atención presencial en su establecimiento físico, reduciendo así sus oportunidades de expansión y visibilidad en el entorno digital.</a:t>
            </a:r>
            <a:endParaRPr b="0" i="0" sz="1600" u="none" cap="none" strike="noStrike">
              <a:solidFill>
                <a:schemeClr val="dk1"/>
              </a:solidFill>
              <a:latin typeface="Work Sans"/>
              <a:ea typeface="Work Sans"/>
              <a:cs typeface="Work Sans"/>
              <a:sym typeface="Work Sans"/>
            </a:endParaRPr>
          </a:p>
          <a:p>
            <a:pPr indent="0" lvl="0" marL="457200" marR="0" rtl="0" algn="l">
              <a:lnSpc>
                <a:spcPct val="115000"/>
              </a:lnSpc>
              <a:spcBef>
                <a:spcPts val="1200"/>
              </a:spcBef>
              <a:spcAft>
                <a:spcPts val="0"/>
              </a:spcAft>
              <a:buClr>
                <a:srgbClr val="000000"/>
              </a:buClr>
              <a:buSzPts val="1600"/>
              <a:buFont typeface="Arial"/>
              <a:buNone/>
            </a:pPr>
            <a:r>
              <a:rPr b="0" i="0" lang="es-CO" sz="1600" u="none" cap="none" strike="noStrike">
                <a:solidFill>
                  <a:schemeClr val="dk1"/>
                </a:solidFill>
                <a:latin typeface="Work Sans"/>
                <a:ea typeface="Work Sans"/>
                <a:cs typeface="Work Sans"/>
                <a:sym typeface="Work Sans"/>
              </a:rPr>
              <a:t>El desarrollo de una plataforma web permitirá mostrar de manera organizada y accesible el catálogo de lámparas disponibles, detallando las características de cada producto, lo cual mejorará la experiencia de los clientes al momento de conocer la oferta de la tienda. Además, la implementación de un módulo de inventario exclusivo para el administrador facilitará la gestión interna de los productos, optimizando el control de existencias y la toma de decisiones.</a:t>
            </a:r>
            <a:endParaRPr b="0" i="0" sz="1600" u="none" cap="none" strike="noStrike">
              <a:solidFill>
                <a:schemeClr val="dk1"/>
              </a:solidFill>
              <a:latin typeface="Work Sans"/>
              <a:ea typeface="Work Sans"/>
              <a:cs typeface="Work Sans"/>
              <a:sym typeface="Work Sans"/>
            </a:endParaRPr>
          </a:p>
          <a:p>
            <a:pPr indent="0" lvl="0" marL="457200" marR="0" rtl="0" algn="l">
              <a:lnSpc>
                <a:spcPct val="115000"/>
              </a:lnSpc>
              <a:spcBef>
                <a:spcPts val="1200"/>
              </a:spcBef>
              <a:spcAft>
                <a:spcPts val="0"/>
              </a:spcAft>
              <a:buClr>
                <a:srgbClr val="000000"/>
              </a:buClr>
              <a:buSzPts val="1600"/>
              <a:buFont typeface="Arial"/>
              <a:buNone/>
            </a:pPr>
            <a:r>
              <a:t/>
            </a:r>
            <a:endParaRPr b="0" i="0" sz="1600" u="none" cap="none" strike="noStrike">
              <a:solidFill>
                <a:schemeClr val="dk1"/>
              </a:solidFill>
              <a:latin typeface="Work Sans"/>
              <a:ea typeface="Work Sans"/>
              <a:cs typeface="Work Sans"/>
              <a:sym typeface="Work Sans"/>
            </a:endParaRPr>
          </a:p>
          <a:p>
            <a:pPr indent="0" lvl="0" marL="0" marR="0" rtl="0" algn="l">
              <a:lnSpc>
                <a:spcPct val="115000"/>
              </a:lnSpc>
              <a:spcBef>
                <a:spcPts val="1200"/>
              </a:spcBef>
              <a:spcAft>
                <a:spcPts val="1200"/>
              </a:spcAft>
              <a:buClr>
                <a:srgbClr val="000000"/>
              </a:buClr>
              <a:buSzPts val="1100"/>
              <a:buFont typeface="Arial"/>
              <a:buNone/>
            </a:pPr>
            <a:br>
              <a:rPr b="0" i="0" lang="es-CO" sz="1100" u="none" cap="none" strike="noStrike">
                <a:solidFill>
                  <a:schemeClr val="dk1"/>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pic>
        <p:nvPicPr>
          <p:cNvPr descr="Aprender a investigar: Planteamiento del problema" id="138" name="Google Shape;138;g38b0176bdc4_0_12"/>
          <p:cNvPicPr preferRelativeResize="0"/>
          <p:nvPr/>
        </p:nvPicPr>
        <p:blipFill rotWithShape="1">
          <a:blip r:embed="rId3">
            <a:alphaModFix/>
          </a:blip>
          <a:srcRect b="0" l="0" r="0" t="0"/>
          <a:stretch/>
        </p:blipFill>
        <p:spPr>
          <a:xfrm>
            <a:off x="8720366" y="2431915"/>
            <a:ext cx="3064212" cy="30642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8b0176bdc4_0_19"/>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CO">
                <a:solidFill>
                  <a:schemeClr val="lt1"/>
                </a:solidFill>
                <a:latin typeface="Work Sans Medium"/>
                <a:ea typeface="Work Sans Medium"/>
                <a:cs typeface="Work Sans Medium"/>
                <a:sym typeface="Work Sans Medium"/>
              </a:rPr>
              <a:t>Alcance  </a:t>
            </a:r>
            <a:endParaRPr/>
          </a:p>
        </p:txBody>
      </p:sp>
      <p:sp>
        <p:nvSpPr>
          <p:cNvPr id="144" name="Google Shape;144;g38b0176bdc4_0_19"/>
          <p:cNvSpPr txBox="1"/>
          <p:nvPr/>
        </p:nvSpPr>
        <p:spPr>
          <a:xfrm>
            <a:off x="601050" y="2010100"/>
            <a:ext cx="7665900" cy="4738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600"/>
              <a:buFont typeface="Arial"/>
              <a:buNone/>
            </a:pPr>
            <a:r>
              <a:rPr b="0" i="0" lang="es-CO" sz="1600" u="none" cap="none" strike="noStrike">
                <a:solidFill>
                  <a:schemeClr val="dk1"/>
                </a:solidFill>
                <a:latin typeface="Work Sans"/>
                <a:ea typeface="Work Sans"/>
                <a:cs typeface="Work Sans"/>
                <a:sym typeface="Work Sans"/>
              </a:rPr>
              <a:t>El presente proyecto tendrá como alcance el desarrollo de una plataforma web para FERROELÉCTRICOS PYP, orientada tanto a la exhibición digital de su catálogo de lámparas como a la venta en línea de los productos. La plataforma permitirá a los clientes visualizar el catálogo con sus características principales, añadir productos al carrito de compras y realizar pedidos de manera fácil y segura.</a:t>
            </a:r>
            <a:endParaRPr b="0" i="0" sz="1600" u="none" cap="none" strike="noStrike">
              <a:solidFill>
                <a:schemeClr val="dk1"/>
              </a:solidFill>
              <a:latin typeface="Work Sans"/>
              <a:ea typeface="Work Sans"/>
              <a:cs typeface="Work Sans"/>
              <a:sym typeface="Work Sans"/>
            </a:endParaRPr>
          </a:p>
          <a:p>
            <a:pPr indent="0" lvl="0" marL="0" marR="0" rtl="0" algn="l">
              <a:lnSpc>
                <a:spcPct val="115000"/>
              </a:lnSpc>
              <a:spcBef>
                <a:spcPts val="1200"/>
              </a:spcBef>
              <a:spcAft>
                <a:spcPts val="0"/>
              </a:spcAft>
              <a:buClr>
                <a:schemeClr val="dk1"/>
              </a:buClr>
              <a:buSzPts val="1100"/>
              <a:buFont typeface="Arial"/>
              <a:buNone/>
            </a:pPr>
            <a:r>
              <a:rPr b="0" i="0" lang="es-CO" sz="1600" u="none" cap="none" strike="noStrike">
                <a:solidFill>
                  <a:schemeClr val="dk1"/>
                </a:solidFill>
                <a:latin typeface="Work Sans"/>
                <a:ea typeface="Work Sans"/>
                <a:cs typeface="Work Sans"/>
                <a:sym typeface="Work Sans"/>
              </a:rPr>
              <a:t>El presente proyecto tendrá como alcance el desarrollo de una plataforma web para FERROELÉCTRICOS PYP, orientada tanto a la exhibición digital de su catálogo de lámparas como a la venta en línea de los productos. La plataforma permitirá a los clientes visualizar el catálogo con sus características principales, añadir productos al carrito de compras y realizar pedidos de manera fácil y segura.</a:t>
            </a:r>
            <a:endParaRPr b="0" i="0" sz="1600" u="none" cap="none" strike="noStrike">
              <a:solidFill>
                <a:schemeClr val="dk1"/>
              </a:solidFill>
              <a:latin typeface="Work Sans"/>
              <a:ea typeface="Work Sans"/>
              <a:cs typeface="Work Sans"/>
              <a:sym typeface="Work Sans"/>
            </a:endParaRPr>
          </a:p>
          <a:p>
            <a:pPr indent="0" lvl="0" marL="457200" marR="0" rtl="0" algn="l">
              <a:lnSpc>
                <a:spcPct val="115000"/>
              </a:lnSpc>
              <a:spcBef>
                <a:spcPts val="1200"/>
              </a:spcBef>
              <a:spcAft>
                <a:spcPts val="0"/>
              </a:spcAft>
              <a:buClr>
                <a:srgbClr val="000000"/>
              </a:buClr>
              <a:buSzPts val="1600"/>
              <a:buFont typeface="Arial"/>
              <a:buNone/>
            </a:pPr>
            <a:r>
              <a:t/>
            </a:r>
            <a:endParaRPr b="0" i="0" sz="1600" u="none" cap="none" strike="noStrike">
              <a:solidFill>
                <a:schemeClr val="dk1"/>
              </a:solidFill>
              <a:latin typeface="Work Sans"/>
              <a:ea typeface="Work Sans"/>
              <a:cs typeface="Work Sans"/>
              <a:sym typeface="Work Sans"/>
            </a:endParaRPr>
          </a:p>
          <a:p>
            <a:pPr indent="0" lvl="0" marL="0" marR="0" rtl="0" algn="l">
              <a:lnSpc>
                <a:spcPct val="115000"/>
              </a:lnSpc>
              <a:spcBef>
                <a:spcPts val="1200"/>
              </a:spcBef>
              <a:spcAft>
                <a:spcPts val="1200"/>
              </a:spcAft>
              <a:buClr>
                <a:srgbClr val="000000"/>
              </a:buClr>
              <a:buSzPts val="1100"/>
              <a:buFont typeface="Arial"/>
              <a:buNone/>
            </a:pPr>
            <a:br>
              <a:rPr b="0" i="0" lang="es-CO" sz="1100" u="none" cap="none" strike="noStrike">
                <a:solidFill>
                  <a:schemeClr val="dk1"/>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pic>
        <p:nvPicPr>
          <p:cNvPr descr="Alcance - Iconos gratis de negocios y finanzas" id="145" name="Google Shape;145;g38b0176bdc4_0_19"/>
          <p:cNvPicPr preferRelativeResize="0"/>
          <p:nvPr/>
        </p:nvPicPr>
        <p:blipFill rotWithShape="1">
          <a:blip r:embed="rId3">
            <a:alphaModFix/>
          </a:blip>
          <a:srcRect b="0" l="0" r="0" t="0"/>
          <a:stretch/>
        </p:blipFill>
        <p:spPr>
          <a:xfrm>
            <a:off x="8619115" y="2705093"/>
            <a:ext cx="3139322" cy="313932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8b0176bdc4_0_26"/>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CO">
                <a:solidFill>
                  <a:schemeClr val="lt1"/>
                </a:solidFill>
                <a:latin typeface="Work Sans Medium"/>
                <a:ea typeface="Work Sans Medium"/>
                <a:cs typeface="Work Sans Medium"/>
                <a:sym typeface="Work Sans Medium"/>
              </a:rPr>
              <a:t>Antecedentes </a:t>
            </a:r>
            <a:endParaRPr/>
          </a:p>
        </p:txBody>
      </p:sp>
      <p:sp>
        <p:nvSpPr>
          <p:cNvPr id="151" name="Google Shape;151;g38b0176bdc4_0_26"/>
          <p:cNvSpPr txBox="1"/>
          <p:nvPr/>
        </p:nvSpPr>
        <p:spPr>
          <a:xfrm>
            <a:off x="601050" y="2010100"/>
            <a:ext cx="7665900" cy="5175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600"/>
              <a:buFont typeface="Arial"/>
              <a:buNone/>
            </a:pPr>
            <a:r>
              <a:rPr b="0" i="0" lang="es-CO" sz="1600" u="none" cap="none" strike="noStrike">
                <a:solidFill>
                  <a:schemeClr val="dk1"/>
                </a:solidFill>
                <a:latin typeface="Work Sans"/>
                <a:ea typeface="Work Sans"/>
                <a:cs typeface="Work Sans"/>
                <a:sym typeface="Work Sans"/>
              </a:rPr>
              <a:t>A nivel global y nacional, las empresas del sector eléctrico y de iluminación han comenzado a migrar sus operaciones hacia plataformas digitales, ofreciendo catálogos en línea, carritos de compra y métodos de pago electrónicos. Esta tendencia responde al cambio en los hábitos de consumo, donde los clientes buscan comodidad, rapidez y acceso a la información de los productos desde cualquier lugar.</a:t>
            </a:r>
            <a:endParaRPr b="0" i="0" sz="1600" u="none" cap="none" strike="noStrike">
              <a:solidFill>
                <a:schemeClr val="dk1"/>
              </a:solidFill>
              <a:latin typeface="Work Sans"/>
              <a:ea typeface="Work Sans"/>
              <a:cs typeface="Work Sans"/>
              <a:sym typeface="Work Sans"/>
            </a:endParaRPr>
          </a:p>
          <a:p>
            <a:pPr indent="0" lvl="0" marL="0" marR="0" rtl="0" algn="l">
              <a:lnSpc>
                <a:spcPct val="115000"/>
              </a:lnSpc>
              <a:spcBef>
                <a:spcPts val="1200"/>
              </a:spcBef>
              <a:spcAft>
                <a:spcPts val="0"/>
              </a:spcAft>
              <a:buClr>
                <a:srgbClr val="000000"/>
              </a:buClr>
              <a:buSzPts val="1600"/>
              <a:buFont typeface="Arial"/>
              <a:buNone/>
            </a:pPr>
            <a:r>
              <a:rPr b="0" i="0" lang="es-CO" sz="1600" u="none" cap="none" strike="noStrike">
                <a:solidFill>
                  <a:schemeClr val="dk1"/>
                </a:solidFill>
                <a:latin typeface="Work Sans"/>
                <a:ea typeface="Work Sans"/>
                <a:cs typeface="Work Sans"/>
                <a:sym typeface="Work Sans"/>
              </a:rPr>
              <a:t>En este contexto, se hace evidente la necesidad de que FERROELÉCTRICOS PYP adopte un modelo digital que le permita fortalecer su competitividad, diversificar sus canales de venta y posicionarse en el comercio electrónico. El desarrollo de una plataforma web transaccional se convierte entonces en un paso estratégico para la modernización y expansión de la empresa.</a:t>
            </a:r>
            <a:endParaRPr b="0" i="0" sz="1600" u="none" cap="none" strike="noStrike">
              <a:solidFill>
                <a:schemeClr val="dk1"/>
              </a:solidFill>
              <a:latin typeface="Work Sans"/>
              <a:ea typeface="Work Sans"/>
              <a:cs typeface="Work Sans"/>
              <a:sym typeface="Work Sans"/>
            </a:endParaRPr>
          </a:p>
          <a:p>
            <a:pPr indent="0" lvl="0" marL="0" marR="0" rtl="0" algn="l">
              <a:lnSpc>
                <a:spcPct val="115000"/>
              </a:lnSpc>
              <a:spcBef>
                <a:spcPts val="1200"/>
              </a:spcBef>
              <a:spcAft>
                <a:spcPts val="0"/>
              </a:spcAft>
              <a:buClr>
                <a:srgbClr val="000000"/>
              </a:buClr>
              <a:buSzPts val="1600"/>
              <a:buFont typeface="Arial"/>
              <a:buNone/>
            </a:pPr>
            <a:r>
              <a:t/>
            </a:r>
            <a:endParaRPr b="0" i="0" sz="1600" u="none" cap="none" strike="noStrike">
              <a:solidFill>
                <a:schemeClr val="dk1"/>
              </a:solidFill>
              <a:latin typeface="Work Sans"/>
              <a:ea typeface="Work Sans"/>
              <a:cs typeface="Work Sans"/>
              <a:sym typeface="Work Sans"/>
            </a:endParaRPr>
          </a:p>
          <a:p>
            <a:pPr indent="0" lvl="0" marL="457200" marR="0" rtl="0" algn="l">
              <a:lnSpc>
                <a:spcPct val="115000"/>
              </a:lnSpc>
              <a:spcBef>
                <a:spcPts val="1200"/>
              </a:spcBef>
              <a:spcAft>
                <a:spcPts val="0"/>
              </a:spcAft>
              <a:buClr>
                <a:srgbClr val="000000"/>
              </a:buClr>
              <a:buSzPts val="1600"/>
              <a:buFont typeface="Arial"/>
              <a:buNone/>
            </a:pPr>
            <a:r>
              <a:t/>
            </a:r>
            <a:endParaRPr b="0" i="0" sz="1600" u="none" cap="none" strike="noStrike">
              <a:solidFill>
                <a:schemeClr val="dk1"/>
              </a:solidFill>
              <a:latin typeface="Work Sans"/>
              <a:ea typeface="Work Sans"/>
              <a:cs typeface="Work Sans"/>
              <a:sym typeface="Work Sans"/>
            </a:endParaRPr>
          </a:p>
          <a:p>
            <a:pPr indent="0" lvl="0" marL="0" marR="0" rtl="0" algn="l">
              <a:lnSpc>
                <a:spcPct val="115000"/>
              </a:lnSpc>
              <a:spcBef>
                <a:spcPts val="1200"/>
              </a:spcBef>
              <a:spcAft>
                <a:spcPts val="1200"/>
              </a:spcAft>
              <a:buClr>
                <a:srgbClr val="000000"/>
              </a:buClr>
              <a:buSzPts val="1100"/>
              <a:buFont typeface="Arial"/>
              <a:buNone/>
            </a:pPr>
            <a:br>
              <a:rPr b="0" i="0" lang="es-CO" sz="1100" u="none" cap="none" strike="noStrike">
                <a:solidFill>
                  <a:schemeClr val="dk1"/>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pic>
        <p:nvPicPr>
          <p:cNvPr id="152" name="Google Shape;152;g38b0176bdc4_0_26"/>
          <p:cNvPicPr preferRelativeResize="0"/>
          <p:nvPr/>
        </p:nvPicPr>
        <p:blipFill rotWithShape="1">
          <a:blip r:embed="rId3">
            <a:alphaModFix/>
          </a:blip>
          <a:srcRect b="0" l="0" r="0" t="0"/>
          <a:stretch/>
        </p:blipFill>
        <p:spPr>
          <a:xfrm>
            <a:off x="8830925" y="2523574"/>
            <a:ext cx="2599100" cy="2599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8de47925d8_2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solidFill>
                  <a:schemeClr val="lt1"/>
                </a:solidFill>
              </a:rPr>
              <a:t>BPMN</a:t>
            </a:r>
            <a:endParaRPr>
              <a:solidFill>
                <a:schemeClr val="lt1"/>
              </a:solidFill>
            </a:endParaRPr>
          </a:p>
        </p:txBody>
      </p:sp>
      <p:pic>
        <p:nvPicPr>
          <p:cNvPr id="159" name="Google Shape;159;g38de47925d8_2_0"/>
          <p:cNvPicPr preferRelativeResize="0"/>
          <p:nvPr/>
        </p:nvPicPr>
        <p:blipFill>
          <a:blip r:embed="rId3">
            <a:alphaModFix/>
          </a:blip>
          <a:stretch>
            <a:fillRect/>
          </a:stretch>
        </p:blipFill>
        <p:spPr>
          <a:xfrm>
            <a:off x="152400" y="2183371"/>
            <a:ext cx="11887200" cy="330242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8de47925d8_2_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solidFill>
                  <a:schemeClr val="lt1"/>
                </a:solidFill>
              </a:rPr>
              <a:t>Mockups / 	Requerimiento Funcional</a:t>
            </a:r>
            <a:endParaRPr>
              <a:solidFill>
                <a:schemeClr val="lt1"/>
              </a:solidFill>
            </a:endParaRPr>
          </a:p>
        </p:txBody>
      </p:sp>
      <p:pic>
        <p:nvPicPr>
          <p:cNvPr id="166" name="Google Shape;166;g38de47925d8_2_6"/>
          <p:cNvPicPr preferRelativeResize="0"/>
          <p:nvPr/>
        </p:nvPicPr>
        <p:blipFill>
          <a:blip r:embed="rId3">
            <a:alphaModFix/>
          </a:blip>
          <a:stretch>
            <a:fillRect/>
          </a:stretch>
        </p:blipFill>
        <p:spPr>
          <a:xfrm>
            <a:off x="5371600" y="1469013"/>
            <a:ext cx="5781675" cy="2524125"/>
          </a:xfrm>
          <a:prstGeom prst="rect">
            <a:avLst/>
          </a:prstGeom>
          <a:noFill/>
          <a:ln>
            <a:noFill/>
          </a:ln>
        </p:spPr>
      </p:pic>
      <p:pic>
        <p:nvPicPr>
          <p:cNvPr id="167" name="Google Shape;167;g38de47925d8_2_6"/>
          <p:cNvPicPr preferRelativeResize="0"/>
          <p:nvPr/>
        </p:nvPicPr>
        <p:blipFill>
          <a:blip r:embed="rId4">
            <a:alphaModFix/>
          </a:blip>
          <a:stretch>
            <a:fillRect/>
          </a:stretch>
        </p:blipFill>
        <p:spPr>
          <a:xfrm>
            <a:off x="0" y="1469025"/>
            <a:ext cx="4347361" cy="2643050"/>
          </a:xfrm>
          <a:prstGeom prst="rect">
            <a:avLst/>
          </a:prstGeom>
          <a:noFill/>
          <a:ln>
            <a:noFill/>
          </a:ln>
        </p:spPr>
      </p:pic>
      <p:pic>
        <p:nvPicPr>
          <p:cNvPr id="168" name="Google Shape;168;g38de47925d8_2_6"/>
          <p:cNvPicPr preferRelativeResize="0"/>
          <p:nvPr/>
        </p:nvPicPr>
        <p:blipFill>
          <a:blip r:embed="rId5">
            <a:alphaModFix/>
          </a:blip>
          <a:stretch>
            <a:fillRect/>
          </a:stretch>
        </p:blipFill>
        <p:spPr>
          <a:xfrm>
            <a:off x="-77537" y="4170051"/>
            <a:ext cx="4502421" cy="2805375"/>
          </a:xfrm>
          <a:prstGeom prst="rect">
            <a:avLst/>
          </a:prstGeom>
          <a:noFill/>
          <a:ln>
            <a:noFill/>
          </a:ln>
        </p:spPr>
      </p:pic>
      <p:pic>
        <p:nvPicPr>
          <p:cNvPr id="169" name="Google Shape;169;g38de47925d8_2_6"/>
          <p:cNvPicPr preferRelativeResize="0"/>
          <p:nvPr/>
        </p:nvPicPr>
        <p:blipFill>
          <a:blip r:embed="rId6">
            <a:alphaModFix/>
          </a:blip>
          <a:stretch>
            <a:fillRect/>
          </a:stretch>
        </p:blipFill>
        <p:spPr>
          <a:xfrm>
            <a:off x="5371600" y="3993150"/>
            <a:ext cx="5865693" cy="2761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8de47925d8_3_1"/>
          <p:cNvSpPr txBox="1"/>
          <p:nvPr>
            <p:ph type="title"/>
          </p:nvPr>
        </p:nvSpPr>
        <p:spPr>
          <a:xfrm>
            <a:off x="255350" y="19027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solidFill>
                  <a:schemeClr val="lt1"/>
                </a:solidFill>
              </a:rPr>
              <a:t>Enlace mockups</a:t>
            </a:r>
            <a:endParaRPr>
              <a:solidFill>
                <a:schemeClr val="lt1"/>
              </a:solidFill>
            </a:endParaRPr>
          </a:p>
        </p:txBody>
      </p:sp>
      <p:pic>
        <p:nvPicPr>
          <p:cNvPr id="176" name="Google Shape;176;g38de47925d8_3_1"/>
          <p:cNvPicPr preferRelativeResize="0"/>
          <p:nvPr/>
        </p:nvPicPr>
        <p:blipFill>
          <a:blip r:embed="rId3">
            <a:alphaModFix/>
          </a:blip>
          <a:stretch>
            <a:fillRect/>
          </a:stretch>
        </p:blipFill>
        <p:spPr>
          <a:xfrm>
            <a:off x="556500" y="1629525"/>
            <a:ext cx="7146601" cy="4535726"/>
          </a:xfrm>
          <a:prstGeom prst="rect">
            <a:avLst/>
          </a:prstGeom>
          <a:noFill/>
          <a:ln>
            <a:noFill/>
          </a:ln>
        </p:spPr>
      </p:pic>
      <p:sp>
        <p:nvSpPr>
          <p:cNvPr id="177" name="Google Shape;177;g38de47925d8_3_1"/>
          <p:cNvSpPr txBox="1"/>
          <p:nvPr/>
        </p:nvSpPr>
        <p:spPr>
          <a:xfrm>
            <a:off x="8114775" y="3044100"/>
            <a:ext cx="3516600" cy="93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CO" sz="1100" u="sng">
                <a:solidFill>
                  <a:srgbClr val="1155CC"/>
                </a:solidFill>
                <a:hlinkClick r:id="rId4">
                  <a:extLst>
                    <a:ext uri="{A12FA001-AC4F-418D-AE19-62706E023703}">
                      <ahyp:hlinkClr val="tx"/>
                    </a:ext>
                  </a:extLst>
                </a:hlinkClick>
              </a:rPr>
              <a:t>https://www.canva.com/design/DAG16TFEdgM/1TnduVWxZKphuEnut-WSqQ/edit?utm_content=DAG16TFEdgM&amp;utm_campaign=designshare&amp;utm_medium=link2&amp;utm_source=sharebutton</a:t>
            </a:r>
            <a:r>
              <a:rPr lang="es-CO" sz="1100">
                <a:solidFill>
                  <a:schemeClr val="dk1"/>
                </a:solidFill>
              </a:rPr>
              <a:t> </a:t>
            </a:r>
            <a:endParaRPr sz="1100">
              <a:solidFill>
                <a:schemeClr val="dk1"/>
              </a:solidFill>
            </a:endParaRPr>
          </a:p>
        </p:txBody>
      </p:sp>
      <p:sp>
        <p:nvSpPr>
          <p:cNvPr id="178" name="Google Shape;178;g38de47925d8_3_1"/>
          <p:cNvSpPr txBox="1"/>
          <p:nvPr/>
        </p:nvSpPr>
        <p:spPr>
          <a:xfrm>
            <a:off x="8114775" y="2144375"/>
            <a:ext cx="5031900" cy="3786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s-CO">
                <a:solidFill>
                  <a:schemeClr val="dk1"/>
                </a:solidFill>
                <a:latin typeface="Calibri"/>
                <a:ea typeface="Calibri"/>
                <a:cs typeface="Calibri"/>
                <a:sym typeface="Calibri"/>
              </a:rPr>
              <a:t>links de mockups:</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8de47925d8_1_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solidFill>
                  <a:schemeClr val="lt1"/>
                </a:solidFill>
              </a:rPr>
              <a:t>Recolección de información </a:t>
            </a:r>
            <a:endParaRPr>
              <a:solidFill>
                <a:schemeClr val="lt1"/>
              </a:solidFill>
            </a:endParaRPr>
          </a:p>
        </p:txBody>
      </p:sp>
      <p:pic>
        <p:nvPicPr>
          <p:cNvPr descr="Gráfico de las respuestas de Formularios. Título de la pregunta: 2. ¿Con qué frecuencia visita o compra online?   . Número de respuestas: 26 respuestas." id="185" name="Google Shape;185;g38de47925d8_1_5" title="2. ¿Con qué frecuencia visita o compra online?   "/>
          <p:cNvPicPr preferRelativeResize="0"/>
          <p:nvPr/>
        </p:nvPicPr>
        <p:blipFill>
          <a:blip r:embed="rId3">
            <a:alphaModFix/>
          </a:blip>
          <a:stretch>
            <a:fillRect/>
          </a:stretch>
        </p:blipFill>
        <p:spPr>
          <a:xfrm>
            <a:off x="191825" y="1533150"/>
            <a:ext cx="5828352" cy="2771880"/>
          </a:xfrm>
          <a:prstGeom prst="rect">
            <a:avLst/>
          </a:prstGeom>
          <a:noFill/>
          <a:ln>
            <a:noFill/>
          </a:ln>
        </p:spPr>
      </p:pic>
      <p:pic>
        <p:nvPicPr>
          <p:cNvPr descr="Gráfico de las respuestas de Formularios. Título de la pregunta: 10. ¿Qué información le gustaría encontrar en una plataforma  web de la tienda?  . Número de respuestas: 26 respuestas." id="186" name="Google Shape;186;g38de47925d8_1_5" title="10. ¿Qué información le gustaría encontrar en una plataforma  web de la tienda?  "/>
          <p:cNvPicPr preferRelativeResize="0"/>
          <p:nvPr/>
        </p:nvPicPr>
        <p:blipFill>
          <a:blip r:embed="rId4">
            <a:alphaModFix/>
          </a:blip>
          <a:stretch>
            <a:fillRect/>
          </a:stretch>
        </p:blipFill>
        <p:spPr>
          <a:xfrm>
            <a:off x="191837" y="4081050"/>
            <a:ext cx="5828326" cy="2693974"/>
          </a:xfrm>
          <a:prstGeom prst="rect">
            <a:avLst/>
          </a:prstGeom>
          <a:noFill/>
          <a:ln>
            <a:noFill/>
          </a:ln>
        </p:spPr>
      </p:pic>
      <p:pic>
        <p:nvPicPr>
          <p:cNvPr descr="Gráfico de las respuestas de Formularios. Título de la pregunta: 9. ¿Le gustaría que la tienda tuviera una plataforma web para consultar productos o precios?. Número de respuestas: 26 respuestas." id="187" name="Google Shape;187;g38de47925d8_1_5" title="9. ¿Le gustaría que la tienda tuviera una plataforma web para consultar productos o precios?"/>
          <p:cNvPicPr preferRelativeResize="0"/>
          <p:nvPr/>
        </p:nvPicPr>
        <p:blipFill>
          <a:blip r:embed="rId5">
            <a:alphaModFix/>
          </a:blip>
          <a:stretch>
            <a:fillRect/>
          </a:stretch>
        </p:blipFill>
        <p:spPr>
          <a:xfrm>
            <a:off x="6325777" y="4030227"/>
            <a:ext cx="5664548" cy="2693979"/>
          </a:xfrm>
          <a:prstGeom prst="rect">
            <a:avLst/>
          </a:prstGeom>
          <a:noFill/>
          <a:ln>
            <a:noFill/>
          </a:ln>
        </p:spPr>
      </p:pic>
      <p:pic>
        <p:nvPicPr>
          <p:cNvPr descr="Gráfico de las respuestas de Formularios. Título de la pregunta: 8. ¿Confía en las compras o consultas en línea para productos eléctricos?  . Número de respuestas: 26 respuestas." id="188" name="Google Shape;188;g38de47925d8_1_5" title="8. ¿Confía en las compras o consultas en línea para productos eléctricos?  "/>
          <p:cNvPicPr preferRelativeResize="0"/>
          <p:nvPr/>
        </p:nvPicPr>
        <p:blipFill rotWithShape="1">
          <a:blip r:embed="rId6">
            <a:alphaModFix/>
          </a:blip>
          <a:srcRect b="-4900" l="3230" r="-3230" t="4900"/>
          <a:stretch/>
        </p:blipFill>
        <p:spPr>
          <a:xfrm>
            <a:off x="6411099" y="1690825"/>
            <a:ext cx="5493898" cy="26128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descr="Imagen que contiene Interfaz de usuario gráfica&#10;&#10;Descripción generada automáticamente" id="193" name="Google Shape;193;p7"/>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2020-10-01T23:51:28Z</dcterms:created>
  <dc:creator>Jorge Enrique Pedraza Sanchez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