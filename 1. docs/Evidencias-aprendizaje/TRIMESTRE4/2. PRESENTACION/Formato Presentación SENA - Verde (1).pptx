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3"/>
  </p:sldMasterIdLst>
  <p:notesMasterIdLst>
    <p:notesMasterId r:id="rId4"/>
  </p:notesMasterIdLst>
  <p:sldIdLst>
    <p:sldId id="256" r:id="rId5"/>
    <p:sldId id="257" r:id="rId6"/>
    <p:sldId id="258" r:id="rId7"/>
    <p:sldId id="259" r:id="rId8"/>
    <p:sldId id="260" r:id="rId9"/>
    <p:sldId id="261" r:id="rId10"/>
    <p:sldId id="262" r:id="rId11"/>
  </p:sldIdLst>
  <p:sldSz cy="6858000" cx="12192000"/>
  <p:notesSz cx="6858000" cy="9144000"/>
  <p:embeddedFontLst>
    <p:embeddedFont>
      <p:font typeface="Work Sans Medium"/>
      <p:regular r:id="rId12"/>
      <p:bold r:id="rId13"/>
      <p:italic r:id="rId14"/>
      <p:boldItalic r:id="rId15"/>
    </p:embeddedFont>
    <p:embeddedFont>
      <p:font typeface="Work Sans"/>
      <p:regular r:id="rId16"/>
      <p:bold r:id="rId17"/>
      <p:italic r:id="rId18"/>
      <p:boldItalic r:id="rId19"/>
    </p:embeddedFont>
    <p:embeddedFont>
      <p:font typeface="Work Sans Light"/>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WorkSansLight-regular.fntdata"/><Relationship Id="rId11" Type="http://schemas.openxmlformats.org/officeDocument/2006/relationships/slide" Target="slides/slide7.xml"/><Relationship Id="rId22" Type="http://schemas.openxmlformats.org/officeDocument/2006/relationships/font" Target="fonts/WorkSansLight-italic.fntdata"/><Relationship Id="rId10" Type="http://schemas.openxmlformats.org/officeDocument/2006/relationships/slide" Target="slides/slide6.xml"/><Relationship Id="rId21" Type="http://schemas.openxmlformats.org/officeDocument/2006/relationships/font" Target="fonts/WorkSansLight-bold.fntdata"/><Relationship Id="rId13" Type="http://schemas.openxmlformats.org/officeDocument/2006/relationships/font" Target="fonts/WorkSansMedium-bold.fntdata"/><Relationship Id="rId12" Type="http://schemas.openxmlformats.org/officeDocument/2006/relationships/font" Target="fonts/WorkSansMedium-regular.fntdata"/><Relationship Id="rId23" Type="http://schemas.openxmlformats.org/officeDocument/2006/relationships/font" Target="fonts/WorkSansLight-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WorkSansMedium-boldItalic.fntdata"/><Relationship Id="rId14" Type="http://schemas.openxmlformats.org/officeDocument/2006/relationships/font" Target="fonts/WorkSansMedium-italic.fntdata"/><Relationship Id="rId17" Type="http://schemas.openxmlformats.org/officeDocument/2006/relationships/font" Target="fonts/WorkSans-bold.fntdata"/><Relationship Id="rId16" Type="http://schemas.openxmlformats.org/officeDocument/2006/relationships/font" Target="fonts/WorkSans-regular.fntdata"/><Relationship Id="rId5" Type="http://schemas.openxmlformats.org/officeDocument/2006/relationships/slide" Target="slides/slide1.xml"/><Relationship Id="rId19" Type="http://schemas.openxmlformats.org/officeDocument/2006/relationships/font" Target="fonts/WorkSans-boldItalic.fntdata"/><Relationship Id="rId6" Type="http://schemas.openxmlformats.org/officeDocument/2006/relationships/slide" Target="slides/slide2.xml"/><Relationship Id="rId18" Type="http://schemas.openxmlformats.org/officeDocument/2006/relationships/font" Target="fonts/WorkSans-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CO"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CO"/>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 name="Google Shape;10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CO"/>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 name="Google Shape;113;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CO"/>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 name="Google Shape;12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 name="Google Shape;12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 name="Google Shape;13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apositiva de título">
  <p:cSld name="1_Diapositiva de título">
    <p:spTree>
      <p:nvGrpSpPr>
        <p:cNvPr id="15" name="Shape 15"/>
        <p:cNvGrpSpPr/>
        <p:nvPr/>
      </p:nvGrpSpPr>
      <p:grpSpPr>
        <a:xfrm>
          <a:off x="0" y="0"/>
          <a:ext cx="0" cy="0"/>
          <a:chOff x="0" y="0"/>
          <a:chExt cx="0" cy="0"/>
        </a:xfrm>
      </p:grpSpPr>
      <p:pic>
        <p:nvPicPr>
          <p:cNvPr descr="Interfaz de usuario gráfica, Texto, Aplicación&#10;&#10;Descripción generada automáticamente" id="16" name="Google Shape;16;p2"/>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Encabezado de sección">
  <p:cSld name="2_Encabezado de sección">
    <p:spTree>
      <p:nvGrpSpPr>
        <p:cNvPr id="17" name="Shape 17"/>
        <p:cNvGrpSpPr/>
        <p:nvPr/>
      </p:nvGrpSpPr>
      <p:grpSpPr>
        <a:xfrm>
          <a:off x="0" y="0"/>
          <a:ext cx="0" cy="0"/>
          <a:chOff x="0" y="0"/>
          <a:chExt cx="0" cy="0"/>
        </a:xfrm>
      </p:grpSpPr>
      <p:pic>
        <p:nvPicPr>
          <p:cNvPr descr="Patrón de fondo&#10;&#10;Descripción generada automáticamente" id="18" name="Google Shape;18;p3"/>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id="19" name="Google Shape;19;p3"/>
          <p:cNvPicPr preferRelativeResize="0"/>
          <p:nvPr/>
        </p:nvPicPr>
        <p:blipFill rotWithShape="1">
          <a:blip r:embed="rId3">
            <a:alphaModFix/>
          </a:blip>
          <a:srcRect b="0" l="0" r="0" t="0"/>
          <a:stretch/>
        </p:blipFill>
        <p:spPr>
          <a:xfrm>
            <a:off x="11054859" y="303050"/>
            <a:ext cx="855785" cy="83398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25" name="Shape 25"/>
        <p:cNvGrpSpPr/>
        <p:nvPr/>
      </p:nvGrpSpPr>
      <p:grpSpPr>
        <a:xfrm>
          <a:off x="0" y="0"/>
          <a:ext cx="0" cy="0"/>
          <a:chOff x="0" y="0"/>
          <a:chExt cx="0" cy="0"/>
        </a:xfrm>
      </p:grpSpPr>
      <p:sp>
        <p:nvSpPr>
          <p:cNvPr id="26" name="Google Shape;26;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Encabezado de sección">
  <p:cSld name="1_Encabezado de sección">
    <p:spTree>
      <p:nvGrpSpPr>
        <p:cNvPr id="29" name="Shape 29"/>
        <p:cNvGrpSpPr/>
        <p:nvPr/>
      </p:nvGrpSpPr>
      <p:grpSpPr>
        <a:xfrm>
          <a:off x="0" y="0"/>
          <a:ext cx="0" cy="0"/>
          <a:chOff x="0" y="0"/>
          <a:chExt cx="0" cy="0"/>
        </a:xfrm>
      </p:grpSpPr>
      <p:pic>
        <p:nvPicPr>
          <p:cNvPr id="30" name="Google Shape;30;p6"/>
          <p:cNvPicPr preferRelativeResize="0"/>
          <p:nvPr/>
        </p:nvPicPr>
        <p:blipFill rotWithShape="1">
          <a:blip r:embed="rId2">
            <a:alphaModFix/>
          </a:blip>
          <a:srcRect b="0" l="0" r="0" t="0"/>
          <a:stretch/>
        </p:blipFill>
        <p:spPr>
          <a:xfrm>
            <a:off x="11027833" y="317431"/>
            <a:ext cx="811391" cy="790587"/>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31" name="Shape 31"/>
        <p:cNvGrpSpPr/>
        <p:nvPr/>
      </p:nvGrpSpPr>
      <p:grpSpPr>
        <a:xfrm>
          <a:off x="0" y="0"/>
          <a:ext cx="0" cy="0"/>
          <a:chOff x="0" y="0"/>
          <a:chExt cx="0" cy="0"/>
        </a:xfrm>
      </p:grpSpPr>
      <p:sp>
        <p:nvSpPr>
          <p:cNvPr id="32" name="Google Shape;32;p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4" name="Google Shape;34;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37" name="Shape 37"/>
        <p:cNvGrpSpPr/>
        <p:nvPr/>
      </p:nvGrpSpPr>
      <p:grpSpPr>
        <a:xfrm>
          <a:off x="0" y="0"/>
          <a:ext cx="0" cy="0"/>
          <a:chOff x="0" y="0"/>
          <a:chExt cx="0" cy="0"/>
        </a:xfrm>
      </p:grpSpPr>
      <p:sp>
        <p:nvSpPr>
          <p:cNvPr id="38" name="Google Shape;38;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43" name="Shape 43"/>
        <p:cNvGrpSpPr/>
        <p:nvPr/>
      </p:nvGrpSpPr>
      <p:grpSpPr>
        <a:xfrm>
          <a:off x="0" y="0"/>
          <a:ext cx="0" cy="0"/>
          <a:chOff x="0" y="0"/>
          <a:chExt cx="0" cy="0"/>
        </a:xfrm>
      </p:grpSpPr>
      <p:sp>
        <p:nvSpPr>
          <p:cNvPr id="44" name="Google Shape;44;p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6" name="Google Shape;46;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9" name="Shape 49"/>
        <p:cNvGrpSpPr/>
        <p:nvPr/>
      </p:nvGrpSpPr>
      <p:grpSpPr>
        <a:xfrm>
          <a:off x="0" y="0"/>
          <a:ext cx="0" cy="0"/>
          <a:chOff x="0" y="0"/>
          <a:chExt cx="0" cy="0"/>
        </a:xfrm>
      </p:grpSpPr>
      <p:sp>
        <p:nvSpPr>
          <p:cNvPr id="50" name="Google Shape;50;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1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56" name="Shape 56"/>
        <p:cNvGrpSpPr/>
        <p:nvPr/>
      </p:nvGrpSpPr>
      <p:grpSpPr>
        <a:xfrm>
          <a:off x="0" y="0"/>
          <a:ext cx="0" cy="0"/>
          <a:chOff x="0" y="0"/>
          <a:chExt cx="0" cy="0"/>
        </a:xfrm>
      </p:grpSpPr>
      <p:sp>
        <p:nvSpPr>
          <p:cNvPr id="57" name="Google Shape;57;p1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9" name="Google Shape;59;p1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1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1" name="Google Shape;61;p1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65" name="Shape 65"/>
        <p:cNvGrpSpPr/>
        <p:nvPr/>
      </p:nvGrpSpPr>
      <p:grpSpPr>
        <a:xfrm>
          <a:off x="0" y="0"/>
          <a:ext cx="0" cy="0"/>
          <a:chOff x="0" y="0"/>
          <a:chExt cx="0" cy="0"/>
        </a:xfrm>
      </p:grpSpPr>
      <p:sp>
        <p:nvSpPr>
          <p:cNvPr id="66" name="Google Shape;66;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70" name="Shape 70"/>
        <p:cNvGrpSpPr/>
        <p:nvPr/>
      </p:nvGrpSpPr>
      <p:grpSpPr>
        <a:xfrm>
          <a:off x="0" y="0"/>
          <a:ext cx="0" cy="0"/>
          <a:chOff x="0" y="0"/>
          <a:chExt cx="0" cy="0"/>
        </a:xfrm>
      </p:grpSpPr>
      <p:sp>
        <p:nvSpPr>
          <p:cNvPr id="71" name="Google Shape;71;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3" name="Google Shape;73;p1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4" name="Google Shape;74;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77" name="Shape 77"/>
        <p:cNvGrpSpPr/>
        <p:nvPr/>
      </p:nvGrpSpPr>
      <p:grpSpPr>
        <a:xfrm>
          <a:off x="0" y="0"/>
          <a:ext cx="0" cy="0"/>
          <a:chOff x="0" y="0"/>
          <a:chExt cx="0" cy="0"/>
        </a:xfrm>
      </p:grpSpPr>
      <p:sp>
        <p:nvSpPr>
          <p:cNvPr id="78" name="Google Shape;78;p1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4"/>
          <p:cNvSpPr/>
          <p:nvPr>
            <p:ph idx="2" type="pic"/>
          </p:nvPr>
        </p:nvSpPr>
        <p:spPr>
          <a:xfrm>
            <a:off x="5183188" y="987425"/>
            <a:ext cx="6172200" cy="4873625"/>
          </a:xfrm>
          <a:prstGeom prst="rect">
            <a:avLst/>
          </a:prstGeom>
          <a:noFill/>
          <a:ln>
            <a:noFill/>
          </a:ln>
        </p:spPr>
      </p:sp>
      <p:sp>
        <p:nvSpPr>
          <p:cNvPr id="80" name="Google Shape;80;p1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84" name="Shape 84"/>
        <p:cNvGrpSpPr/>
        <p:nvPr/>
      </p:nvGrpSpPr>
      <p:grpSpPr>
        <a:xfrm>
          <a:off x="0" y="0"/>
          <a:ext cx="0" cy="0"/>
          <a:chOff x="0" y="0"/>
          <a:chExt cx="0" cy="0"/>
        </a:xfrm>
      </p:grpSpPr>
      <p:sp>
        <p:nvSpPr>
          <p:cNvPr id="85" name="Google Shape;85;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90" name="Shape 90"/>
        <p:cNvGrpSpPr/>
        <p:nvPr/>
      </p:nvGrpSpPr>
      <p:grpSpPr>
        <a:xfrm>
          <a:off x="0" y="0"/>
          <a:ext cx="0" cy="0"/>
          <a:chOff x="0" y="0"/>
          <a:chExt cx="0" cy="0"/>
        </a:xfrm>
      </p:grpSpPr>
      <p:sp>
        <p:nvSpPr>
          <p:cNvPr id="91" name="Google Shape;91;p1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7"/>
          <p:cNvSpPr txBox="1"/>
          <p:nvPr/>
        </p:nvSpPr>
        <p:spPr>
          <a:xfrm>
            <a:off x="995427" y="2551825"/>
            <a:ext cx="9932100" cy="2586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400"/>
              <a:buFont typeface="Arial"/>
              <a:buNone/>
            </a:pPr>
            <a:r>
              <a:rPr b="1" i="0" lang="es-CO" sz="5400" u="none" cap="none" strike="noStrike">
                <a:solidFill>
                  <a:srgbClr val="3F3F3F"/>
                </a:solidFill>
                <a:latin typeface="Work Sans"/>
                <a:ea typeface="Work Sans"/>
                <a:cs typeface="Work Sans"/>
                <a:sym typeface="Work Sans"/>
              </a:rPr>
              <a:t>Plataforma Web de Comercio y Difusión para Ferroeléctricos PYP</a:t>
            </a:r>
            <a:endParaRPr b="1" i="0" sz="4000" u="none" cap="none" strike="noStrike">
              <a:solidFill>
                <a:srgbClr val="3F3F3F"/>
              </a:solidFill>
              <a:latin typeface="Work Sans"/>
              <a:ea typeface="Work Sans"/>
              <a:cs typeface="Work Sans"/>
              <a:sym typeface="Work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8"/>
          <p:cNvSpPr txBox="1"/>
          <p:nvPr/>
        </p:nvSpPr>
        <p:spPr>
          <a:xfrm>
            <a:off x="531102" y="2061425"/>
            <a:ext cx="101304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0" i="0" lang="es-CO" sz="7200" u="none" cap="none" strike="noStrike">
                <a:solidFill>
                  <a:schemeClr val="dk1"/>
                </a:solidFill>
                <a:latin typeface="Work Sans Light"/>
                <a:ea typeface="Work Sans Light"/>
                <a:cs typeface="Work Sans Light"/>
                <a:sym typeface="Work Sans Light"/>
              </a:rPr>
              <a:t>Ferroeléctricos PYP</a:t>
            </a:r>
            <a:endParaRPr b="0" i="0" sz="1400" u="none" cap="none" strike="noStrike">
              <a:solidFill>
                <a:srgbClr val="000000"/>
              </a:solidFill>
              <a:latin typeface="Arial"/>
              <a:ea typeface="Arial"/>
              <a:cs typeface="Arial"/>
              <a:sym typeface="Arial"/>
            </a:endParaRPr>
          </a:p>
        </p:txBody>
      </p:sp>
      <p:cxnSp>
        <p:nvCxnSpPr>
          <p:cNvPr id="108" name="Google Shape;108;p18"/>
          <p:cNvCxnSpPr/>
          <p:nvPr/>
        </p:nvCxnSpPr>
        <p:spPr>
          <a:xfrm>
            <a:off x="5227899" y="3321934"/>
            <a:ext cx="1736203" cy="0"/>
          </a:xfrm>
          <a:prstGeom prst="straightConnector1">
            <a:avLst/>
          </a:prstGeom>
          <a:noFill/>
          <a:ln cap="flat" cmpd="sng" w="9525">
            <a:solidFill>
              <a:srgbClr val="38AA00"/>
            </a:solidFill>
            <a:prstDash val="solid"/>
            <a:miter lim="8000"/>
            <a:headEnd len="sm" w="sm" type="none"/>
            <a:tailEnd len="sm" w="sm" type="none"/>
          </a:ln>
        </p:spPr>
      </p:cxnSp>
      <p:sp>
        <p:nvSpPr>
          <p:cNvPr id="109" name="Google Shape;109;p18"/>
          <p:cNvSpPr txBox="1"/>
          <p:nvPr/>
        </p:nvSpPr>
        <p:spPr>
          <a:xfrm>
            <a:off x="4168830" y="3463725"/>
            <a:ext cx="5832300" cy="1077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s-CO" sz="1600" u="none" cap="none" strike="noStrike">
                <a:solidFill>
                  <a:schemeClr val="dk1"/>
                </a:solidFill>
                <a:latin typeface="Work Sans Light"/>
                <a:ea typeface="Work Sans Light"/>
                <a:cs typeface="Work Sans Light"/>
                <a:sym typeface="Work Sans Light"/>
              </a:rPr>
              <a:t>Plataforma web para generar más visibilidad e</a:t>
            </a:r>
            <a:r>
              <a:rPr b="0" i="0" lang="es-CO" sz="1600" u="none" cap="none" strike="noStrike">
                <a:solidFill>
                  <a:schemeClr val="dk1"/>
                </a:solidFill>
                <a:latin typeface="Work Sans"/>
                <a:ea typeface="Work Sans"/>
                <a:cs typeface="Work Sans"/>
                <a:sym typeface="Work Sans"/>
              </a:rPr>
              <a:t> </a:t>
            </a:r>
            <a:r>
              <a:rPr b="0" i="0" lang="es-CO" sz="1600" u="none" cap="none" strike="noStrike">
                <a:solidFill>
                  <a:schemeClr val="dk1"/>
                </a:solidFill>
                <a:latin typeface="Work Sans Light"/>
                <a:ea typeface="Work Sans Light"/>
                <a:cs typeface="Work Sans Light"/>
                <a:sym typeface="Work Sans Light"/>
              </a:rPr>
              <a:t>implementación de un entorno funcional que facilite la promoción y venta de productos en línea.</a:t>
            </a:r>
            <a:endParaRPr b="0" i="0" sz="1600" u="none" cap="none" strike="noStrike">
              <a:solidFill>
                <a:schemeClr val="dk1"/>
              </a:solidFill>
              <a:latin typeface="Work Sans Light"/>
              <a:ea typeface="Work Sans Light"/>
              <a:cs typeface="Work Sans Light"/>
              <a:sym typeface="Work Sans Light"/>
            </a:endParaRPr>
          </a:p>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Work Sans Light"/>
              <a:ea typeface="Work Sans Light"/>
              <a:cs typeface="Work Sans Light"/>
              <a:sym typeface="Work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s-CO">
                <a:solidFill>
                  <a:schemeClr val="lt1"/>
                </a:solidFill>
              </a:rPr>
              <a:t>Objetivo general</a:t>
            </a:r>
            <a:endParaRPr>
              <a:solidFill>
                <a:schemeClr val="lt1"/>
              </a:solidFill>
            </a:endParaRPr>
          </a:p>
        </p:txBody>
      </p:sp>
      <p:sp>
        <p:nvSpPr>
          <p:cNvPr id="116" name="Google Shape;116;p19"/>
          <p:cNvSpPr txBox="1"/>
          <p:nvPr/>
        </p:nvSpPr>
        <p:spPr>
          <a:xfrm>
            <a:off x="504800" y="2086550"/>
            <a:ext cx="7284900" cy="3454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1200"/>
              </a:spcBef>
              <a:spcAft>
                <a:spcPts val="0"/>
              </a:spcAft>
              <a:buClr>
                <a:schemeClr val="dk1"/>
              </a:buClr>
              <a:buSzPts val="1100"/>
              <a:buFont typeface="Arial"/>
              <a:buNone/>
            </a:pPr>
            <a:br>
              <a:rPr b="0" i="0" lang="es-CO" sz="1600" u="none" cap="none" strike="noStrike">
                <a:solidFill>
                  <a:schemeClr val="dk1"/>
                </a:solidFill>
                <a:latin typeface="Arial"/>
                <a:ea typeface="Arial"/>
                <a:cs typeface="Arial"/>
                <a:sym typeface="Arial"/>
              </a:rPr>
            </a:br>
            <a:r>
              <a:rPr b="0" i="0" lang="es-CO" sz="2100" u="none" cap="none" strike="noStrike">
                <a:solidFill>
                  <a:schemeClr val="dk1"/>
                </a:solidFill>
                <a:latin typeface="Work Sans"/>
                <a:ea typeface="Work Sans"/>
                <a:cs typeface="Work Sans"/>
                <a:sym typeface="Work Sans"/>
              </a:rPr>
              <a:t>Desarrollar una plataforma web para FERROELÉCTRICOS PYP que permita la visualización de un catálogo digital de lámparas con sus características principales, la gestión de inventario para uso exclusivo del administrador y la implementación de un entorno funcional que facilite la promoción y venta de productos en línea.</a:t>
            </a:r>
            <a:endParaRPr b="0" i="0" sz="2100" u="none" cap="none" strike="noStrike">
              <a:solidFill>
                <a:schemeClr val="dk1"/>
              </a:solidFill>
              <a:latin typeface="Work Sans"/>
              <a:ea typeface="Work Sans"/>
              <a:cs typeface="Work Sans"/>
              <a:sym typeface="Work Sans"/>
            </a:endParaRPr>
          </a:p>
          <a:p>
            <a:pPr indent="0" lvl="0" marL="0" marR="0" rtl="0" algn="l">
              <a:lnSpc>
                <a:spcPct val="100000"/>
              </a:lnSpc>
              <a:spcBef>
                <a:spcPts val="1200"/>
              </a:spcBef>
              <a:spcAft>
                <a:spcPts val="0"/>
              </a:spcAft>
              <a:buClr>
                <a:srgbClr val="000000"/>
              </a:buClr>
              <a:buSzPts val="1600"/>
              <a:buFont typeface="Arial"/>
              <a:buNone/>
            </a:pPr>
            <a:r>
              <a:t/>
            </a:r>
            <a:endParaRPr b="0" i="0" sz="2100" u="none" cap="none" strike="noStrike">
              <a:solidFill>
                <a:schemeClr val="dk1"/>
              </a:solidFill>
              <a:latin typeface="Work Sans Light"/>
              <a:ea typeface="Work Sans Light"/>
              <a:cs typeface="Work Sans Light"/>
              <a:sym typeface="Work Sans Light"/>
            </a:endParaRPr>
          </a:p>
        </p:txBody>
      </p:sp>
      <p:pic>
        <p:nvPicPr>
          <p:cNvPr descr="Objetivo General :: PANADERIA PARAISO" id="117" name="Google Shape;117;p19"/>
          <p:cNvPicPr preferRelativeResize="0"/>
          <p:nvPr/>
        </p:nvPicPr>
        <p:blipFill rotWithShape="1">
          <a:blip r:embed="rId3">
            <a:alphaModFix/>
          </a:blip>
          <a:srcRect b="0" l="0" r="0" t="0"/>
          <a:stretch/>
        </p:blipFill>
        <p:spPr>
          <a:xfrm>
            <a:off x="8209200" y="2390888"/>
            <a:ext cx="3724575" cy="28461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0"/>
          <p:cNvSpPr txBox="1"/>
          <p:nvPr>
            <p:ph type="title"/>
          </p:nvPr>
        </p:nvSpPr>
        <p:spPr>
          <a:xfrm>
            <a:off x="456236" y="11048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Work Sans Medium"/>
              <a:buNone/>
            </a:pPr>
            <a:r>
              <a:rPr lang="es-CO">
                <a:solidFill>
                  <a:schemeClr val="lt1"/>
                </a:solidFill>
                <a:latin typeface="Work Sans Medium"/>
                <a:ea typeface="Work Sans Medium"/>
                <a:cs typeface="Work Sans Medium"/>
                <a:sym typeface="Work Sans Medium"/>
              </a:rPr>
              <a:t>Objetivos específicos </a:t>
            </a:r>
            <a:endParaRPr/>
          </a:p>
        </p:txBody>
      </p:sp>
      <p:sp>
        <p:nvSpPr>
          <p:cNvPr id="123" name="Google Shape;123;p20"/>
          <p:cNvSpPr txBox="1"/>
          <p:nvPr/>
        </p:nvSpPr>
        <p:spPr>
          <a:xfrm>
            <a:off x="601050" y="2010100"/>
            <a:ext cx="7104300" cy="47877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1200"/>
              </a:spcBef>
              <a:spcAft>
                <a:spcPts val="0"/>
              </a:spcAft>
              <a:buClr>
                <a:schemeClr val="dk1"/>
              </a:buClr>
              <a:buSzPts val="1600"/>
              <a:buFont typeface="Work Sans"/>
              <a:buChar char="●"/>
            </a:pPr>
            <a:r>
              <a:rPr b="0" i="0" lang="es-CO" sz="1600" u="none" cap="none" strike="noStrike">
                <a:solidFill>
                  <a:schemeClr val="dk1"/>
                </a:solidFill>
                <a:latin typeface="Work Sans"/>
                <a:ea typeface="Work Sans"/>
                <a:cs typeface="Work Sans"/>
                <a:sym typeface="Work Sans"/>
              </a:rPr>
              <a:t>Crear un catálogo digital que muestre las lámparas con imágenes, descripciones, precios y características técnicas.</a:t>
            </a:r>
            <a:endParaRPr b="0" i="0" sz="1600" u="none" cap="none" strike="noStrike">
              <a:solidFill>
                <a:schemeClr val="dk1"/>
              </a:solidFill>
              <a:latin typeface="Work Sans"/>
              <a:ea typeface="Work Sans"/>
              <a:cs typeface="Work Sans"/>
              <a:sym typeface="Work Sans"/>
            </a:endParaRPr>
          </a:p>
          <a:p>
            <a:pPr indent="0" lvl="0" marL="457200" marR="0" rtl="0" algn="l">
              <a:lnSpc>
                <a:spcPct val="115000"/>
              </a:lnSpc>
              <a:spcBef>
                <a:spcPts val="1200"/>
              </a:spcBef>
              <a:spcAft>
                <a:spcPts val="0"/>
              </a:spcAft>
              <a:buClr>
                <a:srgbClr val="000000"/>
              </a:buClr>
              <a:buSzPts val="1600"/>
              <a:buFont typeface="Arial"/>
              <a:buNone/>
            </a:pPr>
            <a:r>
              <a:t/>
            </a:r>
            <a:endParaRPr b="0" i="0" sz="1600" u="none" cap="none" strike="noStrike">
              <a:solidFill>
                <a:schemeClr val="dk1"/>
              </a:solidFill>
              <a:latin typeface="Work Sans"/>
              <a:ea typeface="Work Sans"/>
              <a:cs typeface="Work Sans"/>
              <a:sym typeface="Work Sans"/>
            </a:endParaRPr>
          </a:p>
          <a:p>
            <a:pPr indent="-330200" lvl="0" marL="457200" marR="0" rtl="0" algn="l">
              <a:lnSpc>
                <a:spcPct val="115000"/>
              </a:lnSpc>
              <a:spcBef>
                <a:spcPts val="1200"/>
              </a:spcBef>
              <a:spcAft>
                <a:spcPts val="0"/>
              </a:spcAft>
              <a:buClr>
                <a:schemeClr val="dk1"/>
              </a:buClr>
              <a:buSzPts val="1600"/>
              <a:buFont typeface="Work Sans"/>
              <a:buChar char="●"/>
            </a:pPr>
            <a:r>
              <a:rPr b="0" i="0" lang="es-CO" sz="1600" u="none" cap="none" strike="noStrike">
                <a:solidFill>
                  <a:schemeClr val="dk1"/>
                </a:solidFill>
                <a:latin typeface="Work Sans"/>
                <a:ea typeface="Work Sans"/>
                <a:cs typeface="Work Sans"/>
                <a:sym typeface="Work Sans"/>
              </a:rPr>
              <a:t>Implementar un módulo de administración que permita gestionar el inventario de manera privada y segura.</a:t>
            </a:r>
            <a:endParaRPr b="0" i="0" sz="1600" u="none" cap="none" strike="noStrike">
              <a:solidFill>
                <a:schemeClr val="dk1"/>
              </a:solidFill>
              <a:latin typeface="Work Sans"/>
              <a:ea typeface="Work Sans"/>
              <a:cs typeface="Work Sans"/>
              <a:sym typeface="Work Sans"/>
            </a:endParaRPr>
          </a:p>
          <a:p>
            <a:pPr indent="0" lvl="0" marL="457200" marR="0" rtl="0" algn="l">
              <a:lnSpc>
                <a:spcPct val="115000"/>
              </a:lnSpc>
              <a:spcBef>
                <a:spcPts val="1200"/>
              </a:spcBef>
              <a:spcAft>
                <a:spcPts val="0"/>
              </a:spcAft>
              <a:buClr>
                <a:srgbClr val="000000"/>
              </a:buClr>
              <a:buSzPts val="1600"/>
              <a:buFont typeface="Arial"/>
              <a:buNone/>
            </a:pPr>
            <a:r>
              <a:t/>
            </a:r>
            <a:endParaRPr b="0" i="0" sz="1600" u="none" cap="none" strike="noStrike">
              <a:solidFill>
                <a:schemeClr val="dk1"/>
              </a:solidFill>
              <a:latin typeface="Work Sans"/>
              <a:ea typeface="Work Sans"/>
              <a:cs typeface="Work Sans"/>
              <a:sym typeface="Work Sans"/>
            </a:endParaRPr>
          </a:p>
          <a:p>
            <a:pPr indent="-330200" lvl="0" marL="457200" marR="0" rtl="0" algn="l">
              <a:lnSpc>
                <a:spcPct val="115000"/>
              </a:lnSpc>
              <a:spcBef>
                <a:spcPts val="1200"/>
              </a:spcBef>
              <a:spcAft>
                <a:spcPts val="0"/>
              </a:spcAft>
              <a:buClr>
                <a:schemeClr val="dk1"/>
              </a:buClr>
              <a:buSzPts val="1600"/>
              <a:buFont typeface="Work Sans"/>
              <a:buChar char="●"/>
            </a:pPr>
            <a:r>
              <a:rPr b="0" i="0" lang="es-CO" sz="1600" u="none" cap="none" strike="noStrike">
                <a:solidFill>
                  <a:schemeClr val="dk1"/>
                </a:solidFill>
                <a:latin typeface="Work Sans"/>
                <a:ea typeface="Work Sans"/>
                <a:cs typeface="Work Sans"/>
                <a:sym typeface="Work Sans"/>
              </a:rPr>
              <a:t>Diseñar una interfaz clara, responsiva y fácil de usar para garantizar una buena experiencia de navegación.</a:t>
            </a:r>
            <a:endParaRPr b="0" i="0" sz="1600" u="none" cap="none" strike="noStrike">
              <a:solidFill>
                <a:schemeClr val="dk1"/>
              </a:solidFill>
              <a:latin typeface="Work Sans"/>
              <a:ea typeface="Work Sans"/>
              <a:cs typeface="Work Sans"/>
              <a:sym typeface="Work Sans"/>
            </a:endParaRPr>
          </a:p>
          <a:p>
            <a:pPr indent="0" lvl="0" marL="457200" marR="0" rtl="0" algn="l">
              <a:lnSpc>
                <a:spcPct val="115000"/>
              </a:lnSpc>
              <a:spcBef>
                <a:spcPts val="1200"/>
              </a:spcBef>
              <a:spcAft>
                <a:spcPts val="0"/>
              </a:spcAft>
              <a:buClr>
                <a:srgbClr val="000000"/>
              </a:buClr>
              <a:buSzPts val="1600"/>
              <a:buFont typeface="Arial"/>
              <a:buNone/>
            </a:pPr>
            <a:r>
              <a:t/>
            </a:r>
            <a:endParaRPr b="0" i="0" sz="1600" u="none" cap="none" strike="noStrike">
              <a:solidFill>
                <a:schemeClr val="dk1"/>
              </a:solidFill>
              <a:latin typeface="Work Sans"/>
              <a:ea typeface="Work Sans"/>
              <a:cs typeface="Work Sans"/>
              <a:sym typeface="Work Sans"/>
            </a:endParaRPr>
          </a:p>
          <a:p>
            <a:pPr indent="-330200" lvl="0" marL="457200" marR="0" rtl="0" algn="l">
              <a:lnSpc>
                <a:spcPct val="115000"/>
              </a:lnSpc>
              <a:spcBef>
                <a:spcPts val="1200"/>
              </a:spcBef>
              <a:spcAft>
                <a:spcPts val="0"/>
              </a:spcAft>
              <a:buClr>
                <a:schemeClr val="dk1"/>
              </a:buClr>
              <a:buSzPts val="1600"/>
              <a:buFont typeface="Work Sans"/>
              <a:buChar char="●"/>
            </a:pPr>
            <a:r>
              <a:rPr b="0" i="0" lang="es-CO" sz="1600" u="none" cap="none" strike="noStrike">
                <a:solidFill>
                  <a:schemeClr val="dk1"/>
                </a:solidFill>
                <a:latin typeface="Work Sans"/>
                <a:ea typeface="Work Sans"/>
                <a:cs typeface="Work Sans"/>
                <a:sym typeface="Work Sans"/>
              </a:rPr>
              <a:t>Incorporar funciones de búsqueda y filtrado para optimizar la visualización de productos.</a:t>
            </a:r>
            <a:endParaRPr b="0" i="0" sz="1600" u="none" cap="none" strike="noStrike">
              <a:solidFill>
                <a:schemeClr val="dk1"/>
              </a:solidFill>
              <a:latin typeface="Work Sans"/>
              <a:ea typeface="Work Sans"/>
              <a:cs typeface="Work Sans"/>
              <a:sym typeface="Work Sans"/>
            </a:endParaRPr>
          </a:p>
          <a:p>
            <a:pPr indent="0" lvl="0" marL="0" marR="0" rtl="0" algn="l">
              <a:lnSpc>
                <a:spcPct val="115000"/>
              </a:lnSpc>
              <a:spcBef>
                <a:spcPts val="1200"/>
              </a:spcBef>
              <a:spcAft>
                <a:spcPts val="1200"/>
              </a:spcAft>
              <a:buClr>
                <a:srgbClr val="000000"/>
              </a:buClr>
              <a:buSzPts val="1100"/>
              <a:buFont typeface="Arial"/>
              <a:buNone/>
            </a:pPr>
            <a:br>
              <a:rPr b="0" i="0" lang="es-CO" sz="1100" u="none" cap="none" strike="noStrike">
                <a:solidFill>
                  <a:schemeClr val="dk1"/>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pic>
        <p:nvPicPr>
          <p:cNvPr id="124" name="Google Shape;124;p20"/>
          <p:cNvPicPr preferRelativeResize="0"/>
          <p:nvPr/>
        </p:nvPicPr>
        <p:blipFill rotWithShape="1">
          <a:blip r:embed="rId3">
            <a:alphaModFix/>
          </a:blip>
          <a:srcRect b="0" l="0" r="0" t="0"/>
          <a:stretch/>
        </p:blipFill>
        <p:spPr>
          <a:xfrm>
            <a:off x="7838025" y="2150125"/>
            <a:ext cx="3702851" cy="37028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txBox="1"/>
          <p:nvPr>
            <p:ph type="title"/>
          </p:nvPr>
        </p:nvSpPr>
        <p:spPr>
          <a:xfrm>
            <a:off x="456236" y="110481"/>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Work Sans Medium"/>
              <a:buNone/>
            </a:pPr>
            <a:r>
              <a:rPr lang="es-CO">
                <a:solidFill>
                  <a:schemeClr val="lt1"/>
                </a:solidFill>
                <a:latin typeface="Work Sans Medium"/>
                <a:ea typeface="Work Sans Medium"/>
                <a:cs typeface="Work Sans Medium"/>
                <a:sym typeface="Work Sans Medium"/>
              </a:rPr>
              <a:t>Justificación  </a:t>
            </a:r>
            <a:endParaRPr/>
          </a:p>
        </p:txBody>
      </p:sp>
      <p:sp>
        <p:nvSpPr>
          <p:cNvPr id="130" name="Google Shape;130;p21"/>
          <p:cNvSpPr txBox="1"/>
          <p:nvPr/>
        </p:nvSpPr>
        <p:spPr>
          <a:xfrm>
            <a:off x="601050" y="2010100"/>
            <a:ext cx="7898700" cy="5945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chemeClr val="dk1"/>
              </a:buClr>
              <a:buSzPts val="1100"/>
              <a:buFont typeface="Arial"/>
              <a:buNone/>
            </a:pPr>
            <a:r>
              <a:rPr b="0" i="0" lang="es-CO" sz="1500" u="none" cap="none" strike="noStrike">
                <a:solidFill>
                  <a:schemeClr val="dk1"/>
                </a:solidFill>
                <a:latin typeface="Arial"/>
                <a:ea typeface="Arial"/>
                <a:cs typeface="Arial"/>
                <a:sym typeface="Arial"/>
              </a:rPr>
              <a:t>La digitalización de los negocios se ha convertido en un factor esencial para garantizar la competitividad en el mercado actual. </a:t>
            </a:r>
            <a:r>
              <a:rPr b="1" i="0" lang="es-CO" sz="1500" u="none" cap="none" strike="noStrike">
                <a:solidFill>
                  <a:schemeClr val="dk1"/>
                </a:solidFill>
                <a:latin typeface="Arial"/>
                <a:ea typeface="Arial"/>
                <a:cs typeface="Arial"/>
                <a:sym typeface="Arial"/>
              </a:rPr>
              <a:t>FERROELÉCTRICOS PYP</a:t>
            </a:r>
            <a:r>
              <a:rPr b="0" i="0" lang="es-CO" sz="1500" u="none" cap="none" strike="noStrike">
                <a:solidFill>
                  <a:schemeClr val="dk1"/>
                </a:solidFill>
                <a:latin typeface="Arial"/>
                <a:ea typeface="Arial"/>
                <a:cs typeface="Arial"/>
                <a:sym typeface="Arial"/>
              </a:rPr>
              <a:t>, al no contar con una plataforma web propia, limita su alcance comercial y depende principalmente de la atención presencial en su establecimiento físico, reduciendo así sus oportunidades de expansión y visibilidad en el entorno digital.</a:t>
            </a:r>
            <a:endParaRPr b="0" i="0" sz="15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0" i="0" lang="es-CO" sz="1500" u="none" cap="none" strike="noStrike">
                <a:solidFill>
                  <a:schemeClr val="dk1"/>
                </a:solidFill>
                <a:latin typeface="Arial"/>
                <a:ea typeface="Arial"/>
                <a:cs typeface="Arial"/>
                <a:sym typeface="Arial"/>
              </a:rPr>
              <a:t>El desarrollo de una plataforma web permitirá mostrar de manera organizada y accesible el catálogo de lámparas disponibles, detallando las características de cada producto, lo cual mejorará la experiencia de los clientes al momento de conocer la oferta de la tienda. Además, la implementación de un módulo de inventario exclusivo para el administrador facilitará la gestión interna de los productos, optimizando el control de existencias y la toma de decisiones.La digitalización de los negocios se ha convertido en un factor esencial para garantizar la competitividad en el mercado actual. </a:t>
            </a:r>
            <a:r>
              <a:rPr b="1" i="0" lang="es-CO" sz="1500" u="none" cap="none" strike="noStrike">
                <a:solidFill>
                  <a:schemeClr val="dk1"/>
                </a:solidFill>
                <a:latin typeface="Arial"/>
                <a:ea typeface="Arial"/>
                <a:cs typeface="Arial"/>
                <a:sym typeface="Arial"/>
              </a:rPr>
              <a:t>FERROELÉCTRICOS PYP</a:t>
            </a:r>
            <a:r>
              <a:rPr b="0" i="0" lang="es-CO" sz="1500" u="none" cap="none" strike="noStrike">
                <a:solidFill>
                  <a:schemeClr val="dk1"/>
                </a:solidFill>
                <a:latin typeface="Arial"/>
                <a:ea typeface="Arial"/>
                <a:cs typeface="Arial"/>
                <a:sym typeface="Arial"/>
              </a:rPr>
              <a:t>, al no contar con una plataforma web propia, limita su alcance comercial y depende principalmente de la atención presencial en su establecimiento físico, reduciendo así sus oportunidades de expansión y visibilidad en el entorno digital.</a:t>
            </a:r>
            <a:endParaRPr b="0" i="0" sz="15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t/>
            </a:r>
            <a:endParaRPr b="0" i="0" sz="1500" u="none" cap="none" strike="noStrike">
              <a:solidFill>
                <a:schemeClr val="dk1"/>
              </a:solidFill>
              <a:latin typeface="Arial"/>
              <a:ea typeface="Arial"/>
              <a:cs typeface="Arial"/>
              <a:sym typeface="Arial"/>
            </a:endParaRPr>
          </a:p>
          <a:p>
            <a:pPr indent="0" lvl="0" marL="457200" marR="0" rtl="0" algn="l">
              <a:lnSpc>
                <a:spcPct val="115000"/>
              </a:lnSpc>
              <a:spcBef>
                <a:spcPts val="1200"/>
              </a:spcBef>
              <a:spcAft>
                <a:spcPts val="0"/>
              </a:spcAft>
              <a:buClr>
                <a:srgbClr val="000000"/>
              </a:buClr>
              <a:buSzPts val="1600"/>
              <a:buFont typeface="Arial"/>
              <a:buNone/>
            </a:pPr>
            <a:r>
              <a:t/>
            </a:r>
            <a:endParaRPr b="0" i="0" sz="2000" u="none" cap="none" strike="noStrike">
              <a:solidFill>
                <a:schemeClr val="dk1"/>
              </a:solidFill>
              <a:latin typeface="Work Sans"/>
              <a:ea typeface="Work Sans"/>
              <a:cs typeface="Work Sans"/>
              <a:sym typeface="Work Sans"/>
            </a:endParaRPr>
          </a:p>
          <a:p>
            <a:pPr indent="0" lvl="0" marL="0" marR="0" rtl="0" algn="l">
              <a:lnSpc>
                <a:spcPct val="115000"/>
              </a:lnSpc>
              <a:spcBef>
                <a:spcPts val="1200"/>
              </a:spcBef>
              <a:spcAft>
                <a:spcPts val="1200"/>
              </a:spcAft>
              <a:buClr>
                <a:srgbClr val="000000"/>
              </a:buClr>
              <a:buSzPts val="1100"/>
              <a:buFont typeface="Arial"/>
              <a:buNone/>
            </a:pPr>
            <a:br>
              <a:rPr b="0" i="0" lang="es-CO" sz="1500" u="none" cap="none" strike="noStrike">
                <a:solidFill>
                  <a:schemeClr val="dk1"/>
                </a:solidFill>
                <a:latin typeface="Arial"/>
                <a:ea typeface="Arial"/>
                <a:cs typeface="Arial"/>
                <a:sym typeface="Arial"/>
              </a:rPr>
            </a:br>
            <a:endParaRPr b="0" i="0" sz="1800" u="none" cap="none" strike="noStrike">
              <a:solidFill>
                <a:srgbClr val="000000"/>
              </a:solidFill>
              <a:latin typeface="Arial"/>
              <a:ea typeface="Arial"/>
              <a:cs typeface="Arial"/>
              <a:sym typeface="Arial"/>
            </a:endParaRPr>
          </a:p>
        </p:txBody>
      </p:sp>
      <p:pic>
        <p:nvPicPr>
          <p:cNvPr id="131" name="Google Shape;131;p21"/>
          <p:cNvPicPr preferRelativeResize="0"/>
          <p:nvPr/>
        </p:nvPicPr>
        <p:blipFill rotWithShape="1">
          <a:blip r:embed="rId3">
            <a:alphaModFix/>
          </a:blip>
          <a:srcRect b="0" l="0" r="0" t="0"/>
          <a:stretch/>
        </p:blipFill>
        <p:spPr>
          <a:xfrm>
            <a:off x="8526525" y="2600325"/>
            <a:ext cx="3665476" cy="36654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2"/>
          <p:cNvSpPr txBox="1"/>
          <p:nvPr>
            <p:ph type="title"/>
          </p:nvPr>
        </p:nvSpPr>
        <p:spPr>
          <a:xfrm>
            <a:off x="456236" y="110481"/>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Work Sans Medium"/>
              <a:buNone/>
            </a:pPr>
            <a:r>
              <a:rPr lang="es-CO">
                <a:solidFill>
                  <a:schemeClr val="lt1"/>
                </a:solidFill>
                <a:latin typeface="Work Sans Medium"/>
                <a:ea typeface="Work Sans Medium"/>
                <a:cs typeface="Work Sans Medium"/>
                <a:sym typeface="Work Sans Medium"/>
              </a:rPr>
              <a:t>Alcance  </a:t>
            </a:r>
            <a:endParaRPr/>
          </a:p>
        </p:txBody>
      </p:sp>
      <p:sp>
        <p:nvSpPr>
          <p:cNvPr id="137" name="Google Shape;137;p22"/>
          <p:cNvSpPr txBox="1"/>
          <p:nvPr/>
        </p:nvSpPr>
        <p:spPr>
          <a:xfrm>
            <a:off x="601050" y="2010100"/>
            <a:ext cx="7665900" cy="4738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600"/>
              <a:buFont typeface="Arial"/>
              <a:buNone/>
            </a:pPr>
            <a:r>
              <a:rPr b="0" i="0" lang="es-CO" sz="1600" u="none" cap="none" strike="noStrike">
                <a:solidFill>
                  <a:schemeClr val="dk1"/>
                </a:solidFill>
                <a:latin typeface="Work Sans"/>
                <a:ea typeface="Work Sans"/>
                <a:cs typeface="Work Sans"/>
                <a:sym typeface="Work Sans"/>
              </a:rPr>
              <a:t>El presente proyecto tendrá como alcance el desarrollo de una plataforma web para FERROELÉCTRICOS PYP, orientada tanto a la exhibición digital de su catálogo de lámparas como a la venta en línea de los productos. La plataforma permitirá a los clientes visualizar el catálogo con sus características principales, añadir productos al carrito de compras y realizar pedidos de manera fácil y segura.</a:t>
            </a:r>
            <a:endParaRPr b="0" i="0" sz="1600" u="none" cap="none" strike="noStrike">
              <a:solidFill>
                <a:schemeClr val="dk1"/>
              </a:solidFill>
              <a:latin typeface="Work Sans"/>
              <a:ea typeface="Work Sans"/>
              <a:cs typeface="Work Sans"/>
              <a:sym typeface="Work Sans"/>
            </a:endParaRPr>
          </a:p>
          <a:p>
            <a:pPr indent="0" lvl="0" marL="0" marR="0" rtl="0" algn="l">
              <a:lnSpc>
                <a:spcPct val="115000"/>
              </a:lnSpc>
              <a:spcBef>
                <a:spcPts val="1200"/>
              </a:spcBef>
              <a:spcAft>
                <a:spcPts val="0"/>
              </a:spcAft>
              <a:buClr>
                <a:schemeClr val="dk1"/>
              </a:buClr>
              <a:buSzPts val="1100"/>
              <a:buFont typeface="Arial"/>
              <a:buNone/>
            </a:pPr>
            <a:r>
              <a:rPr b="0" i="0" lang="es-CO" sz="1600" u="none" cap="none" strike="noStrike">
                <a:solidFill>
                  <a:schemeClr val="dk1"/>
                </a:solidFill>
                <a:latin typeface="Work Sans"/>
                <a:ea typeface="Work Sans"/>
                <a:cs typeface="Work Sans"/>
                <a:sym typeface="Work Sans"/>
              </a:rPr>
              <a:t>El presente proyecto tendrá como alcance el desarrollo de una plataforma web para FERROELÉCTRICOS PYP, orientada tanto a la exhibición digital de su catálogo de lámparas como a la venta en línea de los productos. La plataforma permitirá a los clientes visualizar el catálogo con sus características principales, añadir productos al carrito de compras y realizar pedidos de manera fácil y segura.</a:t>
            </a:r>
            <a:endParaRPr b="0" i="0" sz="1600" u="none" cap="none" strike="noStrike">
              <a:solidFill>
                <a:schemeClr val="dk1"/>
              </a:solidFill>
              <a:latin typeface="Work Sans"/>
              <a:ea typeface="Work Sans"/>
              <a:cs typeface="Work Sans"/>
              <a:sym typeface="Work Sans"/>
            </a:endParaRPr>
          </a:p>
          <a:p>
            <a:pPr indent="0" lvl="0" marL="457200" marR="0" rtl="0" algn="l">
              <a:lnSpc>
                <a:spcPct val="115000"/>
              </a:lnSpc>
              <a:spcBef>
                <a:spcPts val="1200"/>
              </a:spcBef>
              <a:spcAft>
                <a:spcPts val="0"/>
              </a:spcAft>
              <a:buClr>
                <a:srgbClr val="000000"/>
              </a:buClr>
              <a:buSzPts val="1600"/>
              <a:buFont typeface="Arial"/>
              <a:buNone/>
            </a:pPr>
            <a:r>
              <a:t/>
            </a:r>
            <a:endParaRPr b="0" i="0" sz="1600" u="none" cap="none" strike="noStrike">
              <a:solidFill>
                <a:schemeClr val="dk1"/>
              </a:solidFill>
              <a:latin typeface="Work Sans"/>
              <a:ea typeface="Work Sans"/>
              <a:cs typeface="Work Sans"/>
              <a:sym typeface="Work Sans"/>
            </a:endParaRPr>
          </a:p>
          <a:p>
            <a:pPr indent="0" lvl="0" marL="0" marR="0" rtl="0" algn="l">
              <a:lnSpc>
                <a:spcPct val="115000"/>
              </a:lnSpc>
              <a:spcBef>
                <a:spcPts val="1200"/>
              </a:spcBef>
              <a:spcAft>
                <a:spcPts val="1200"/>
              </a:spcAft>
              <a:buClr>
                <a:srgbClr val="000000"/>
              </a:buClr>
              <a:buSzPts val="1100"/>
              <a:buFont typeface="Arial"/>
              <a:buNone/>
            </a:pPr>
            <a:br>
              <a:rPr b="0" i="0" lang="es-CO" sz="1100" u="none" cap="none" strike="noStrike">
                <a:solidFill>
                  <a:schemeClr val="dk1"/>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pic>
        <p:nvPicPr>
          <p:cNvPr descr="Alcance - Iconos gratis de negocios y finanzas" id="138" name="Google Shape;138;p22"/>
          <p:cNvPicPr preferRelativeResize="0"/>
          <p:nvPr/>
        </p:nvPicPr>
        <p:blipFill rotWithShape="1">
          <a:blip r:embed="rId3">
            <a:alphaModFix/>
          </a:blip>
          <a:srcRect b="0" l="0" r="0" t="0"/>
          <a:stretch/>
        </p:blipFill>
        <p:spPr>
          <a:xfrm>
            <a:off x="8619115" y="2705093"/>
            <a:ext cx="3139322" cy="313932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descr="Imagen que contiene Interfaz de usuario gráfica&#10;&#10;Descripción generada automáticamente" id="143" name="Google Shape;143;p23"/>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